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https://docs.google.com/document/d/1T4H993XyOUdJO5O_QljRB0VoUAem2qZYGCP6iTJj84k/edit?tab=t.0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https://docs.google.com/document/d/1T4H993XyOUdJO5O_QljRB0VoUAem2qZYGCP6iTJj84k/edit?tab=t.0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frequent fraud is to change your electricity and gas meters.
1) based on a research on estimation 1.4b is sold every year 
2) 304% is increase from 2016 to 2022 
3) 13,415 cases are officially reported 
4) the amount that we have to bear is 50$ per household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catch frauds, because we could achieve three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making new features were so important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making new features were so important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model performs poorly mainly because the dataset is highly imbalanced.
For class 1 (the minority class), precision is only 0.11 and F1-score is 0.19, meaning the model produces many false positives and fails to capture positives reliably.
For class 0 (the majority class), precision and F1 are much higher (0.97 and 0.79), showing that the model is biased toward predicting the majority class correctly.
A baseline model without proper handling of class imbalance (e.g., via resampling, class weighting, or threshold tuning) will typically optimize for accuracy, which can be misleading — in this case, it predicts the majority class most of the time and largely ignores the minority class.
In short: The imbalance skews the learning process, so the model underperforms for the minority (positive) class, which is often the most important in fraud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CV values are not visible in the curve
Different data basis:
PR-Curve: trained models on the entire dataset.
CV metrics: models trained on training folds, averaged.
Different threshold:
CV metrics: threshold = 0.5.
PR-Curve: threshold is varied, and the red line marks the best F1 threshold.
Different aggregation:
PR-Curve: a single curve from one model.
CV: average from 5 different models/folds.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https://docs.google.com/document/d/1T4H993XyOUdJO5O_QljRB0VoUAem2qZYGCP6iTJj84k/edit?tab=t.0
Best threshold for SMOTE: 0.548 with F1 = 0.370 
Best threshold for ADASYN: 0.538 with F1 = 0.360 
Best threshold for SMOTETomek: 0.559 with F1 = 0.368 
Best threshold for scale_pos_weight: 0.744 with F1 = 0.713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you can see how feature engineering helped us improve the model.
We compared two versions: one with the original features, and one after we applied basic feature combinations like multiplication, addition, and division.
As you can see, just by adding these combinations, our Zindi score improved from 0.82 to 0.83, and our rank jumped from 219 to 193 — a noticeable lift in a highly competitive leaderboard.
This shows that even simple transformations of existing features can significantly enhance a model's performance.
Initially, we submitted the prediction to Zindi and it gave us the score of 0.82 (already high). But we did some feature engineering by feature combinations (multiplication, devision, addition, deduction) and managed to climb 26 positions in the final ranking. And we made it to Top-200.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had more time, we could achieve better AUC (area under the curve) score by further combining features, trying to use other subsets of features and adding a 3rd party data.
Still a lot of room for improvement for this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the model tells us about the drivers of fraud.
The top predictive feature was Client Category – this reflects whether the customer is residential, commercial, or industrial. Fraud patterns clearly vary across these categories.
Secondly, we have Service Remarque Frequency and Length. These are the notes made by the company agents during visits – and they’re incredibly insightful. For example, if a counter shows anomalies or if the agent gives a negative score, it often correlates with fraudulent behavior. So the model picks up on these patterns.
Next is the Number of Counter Changes. Frequent changes might suggest tampering, upgrades to hide consumption, or irregular maintenance – all red flags.
Finally, Tarif Type plays a significant role. Some tarifs might incentivize manipulation more than others – and the model captures this subtle effect.
Overall, we see that both technical meter data and observations by field agents are critical to predicting fraud.
These insights can be used not just for better prediction, but also for designing more resilient operational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powerful Python-based stack including Pandas, Scikit-learn, Imbalanced-learn, and XGBoost to build and evaluate our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your attention—happy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your attention—happy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threshold for SMOTE: 0.548 with F1 = 0.370 
Best threshold for ADASYN: 0.538 with F1 = 0.360 
Best threshold for SMOTETomek: 0.559 with F1 = 0.368 
Best threshold for scale_pos_weight: 0.744 with F1 = 0.713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CV values are not visible in the curve
Different data basis:
PR-Curve: trained models on the entire dataset.
CV metrics: models trained on training folds, averaged.
Different threshold:
CV metrics: threshold = 0.5.
PR-Curve: threshold is varied, and the red line marks the best F1 threshold.
Different aggregation:
PR-Curve: a single curve from one model.
CV: average from 5 different models/folds.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present the key evaluation metrics for our model.
Although the accuracy is relatively high at 87%, it's important to note that this is a highly imbalanced classification problem, so accuracy alone can be misleading.
That's why we focus more on metrics like precision, recall, and the F1-score.
Our model achieves a recall of 58%, which means it's able to correctly identify more than half of the true positive cases - a critical aspect in this context.
Precision is lower, at 24%, indicating that some of the positive predictions are still false positives - a common trade-off when optimizing for recall.
The F1-score balances those two and comes in at 0.34.
Finally, the decision threshold was tuned to 0.72, prioritizing recall without completely sacrificing precision.
Let's look at our Evaluation metrics.
Cross-validation showed us high Accuracy, but as we're dealing with class imbalance, this metric may be misleading. So we were focusing mostly on optimal Precision and Recall combination, and therefore were trying to maximize our F1 score. 
And we managed to achieve a good Recall - more than half of our Positives were True Positives. And we did it with reasonable Precision.
On the test data, we tuned the Threshold to maximize F1 score, and achieved even greater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slideLayout" Target="../slideLayouts/slideLayout1.xml"/><Relationship Id="rId2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slideLayout" Target="../slideLayouts/slideLayout1.xml"/><Relationship Id="rId2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slideLayout" Target="../slideLayouts/slideLayout1.xml"/><Relationship Id="rId2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pic>
        <p:nvPicPr>
          <p:cNvPr id="4" name="Image 0" descr="preencoded.png">    </p:cNvPr>
          <p:cNvPicPr>
            <a:picLocks noChangeAspect="1"/>
          </p:cNvPicPr>
          <p:nvPr/>
        </p:nvPicPr>
        <p:blipFill>
          <a:blip r:embed="rId1"/>
          <a:stretch>
            <a:fillRect/>
          </a:stretch>
        </p:blipFill>
        <p:spPr>
          <a:xfrm>
            <a:off x="5967413" y="1485900"/>
            <a:ext cx="2509838" cy="2452688"/>
          </a:xfrm>
          <a:prstGeom prst="rect">
            <a:avLst/>
          </a:prstGeom>
        </p:spPr>
      </p:pic>
      <p:sp>
        <p:nvSpPr>
          <p:cNvPr id="5"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6"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7"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8" name="Text 4"/>
          <p:cNvSpPr/>
          <p:nvPr/>
        </p:nvSpPr>
        <p:spPr>
          <a:xfrm>
            <a:off x="742950" y="1428750"/>
            <a:ext cx="5381625" cy="785813"/>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Zero Fraud AI</a:t>
            </a:r>
            <a:endParaRPr lang="en-US" sz="5625" dirty="0"/>
          </a:p>
        </p:txBody>
      </p:sp>
      <p:sp>
        <p:nvSpPr>
          <p:cNvPr id="9" name="Text 5"/>
          <p:cNvSpPr/>
          <p:nvPr/>
        </p:nvSpPr>
        <p:spPr>
          <a:xfrm>
            <a:off x="733425" y="2428875"/>
            <a:ext cx="5391150"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Catching Energy Frauds </a:t>
            </a:r>
            <a:endParaRPr lang="en-US" sz="2625" dirty="0"/>
          </a:p>
        </p:txBody>
      </p:sp>
      <p:sp>
        <p:nvSpPr>
          <p:cNvPr id="10" name="Text 6"/>
          <p:cNvSpPr/>
          <p:nvPr/>
        </p:nvSpPr>
        <p:spPr>
          <a:xfrm>
            <a:off x="8848725" y="4729163"/>
            <a:ext cx="538163"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sp>
        <p:nvSpPr>
          <p:cNvPr id="4" name="Text 1"/>
          <p:cNvSpPr/>
          <p:nvPr/>
        </p:nvSpPr>
        <p:spPr>
          <a:xfrm>
            <a:off x="4619625" y="2000250"/>
            <a:ext cx="4157663" cy="1466850"/>
          </a:xfrm>
          <a:prstGeom prst="rect">
            <a:avLst/>
          </a:prstGeom>
          <a:noFill/>
          <a:ln/>
        </p:spPr>
        <p:txBody>
          <a:bodyPr wrap="square" rtlCol="0" anchor="ctr"/>
          <a:lstStyle/>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Background</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Workflow</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Final result</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Q&amp;A</a:t>
            </a:r>
            <a:endParaRPr lang="en-US" sz="2625" dirty="0"/>
          </a:p>
        </p:txBody>
      </p:sp>
      <p:sp>
        <p:nvSpPr>
          <p:cNvPr id="5" name="Text 2"/>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6" name="Text 3"/>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7" name="Text 4"/>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8" name="Text 5"/>
          <p:cNvSpPr/>
          <p:nvPr/>
        </p:nvSpPr>
        <p:spPr>
          <a:xfrm>
            <a:off x="8758238" y="4491038"/>
            <a:ext cx="561975"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2</a:t>
            </a:r>
            <a:endParaRPr lang="en-US" sz="1350" dirty="0"/>
          </a:p>
        </p:txBody>
      </p:sp>
      <p:sp>
        <p:nvSpPr>
          <p:cNvPr id="9" name="Text 6"/>
          <p:cNvSpPr/>
          <p:nvPr/>
        </p:nvSpPr>
        <p:spPr>
          <a:xfrm>
            <a:off x="742950" y="1000125"/>
            <a:ext cx="4243388" cy="1571625"/>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Today’s</a:t>
            </a:r>
            <a:endParaRPr lang="en-US" sz="5625" dirty="0"/>
          </a:p>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Agenda:</a:t>
            </a:r>
            <a:endParaRPr lang="en-US" sz="56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4"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5"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6" name="Text 4"/>
          <p:cNvSpPr/>
          <p:nvPr/>
        </p:nvSpPr>
        <p:spPr>
          <a:xfrm>
            <a:off x="8758238" y="4491038"/>
            <a:ext cx="5667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3</a:t>
            </a:r>
            <a:endParaRPr lang="en-US" sz="1350" dirty="0"/>
          </a:p>
        </p:txBody>
      </p:sp>
      <p:sp>
        <p:nvSpPr>
          <p:cNvPr id="7" name="Text 5"/>
          <p:cNvSpPr/>
          <p:nvPr/>
        </p:nvSpPr>
        <p:spPr>
          <a:xfrm>
            <a:off x="3957638" y="1385888"/>
            <a:ext cx="5343525" cy="3667125"/>
          </a:xfrm>
          <a:prstGeom prst="rect">
            <a:avLst/>
          </a:prstGeom>
          <a:noFill/>
          <a:ln/>
        </p:spPr>
        <p:txBody>
          <a:bodyPr wrap="square" rtlCol="0" anchor="ctr"/>
          <a:lstStyle/>
          <a:p>
            <a:pPr algn="r" indent="0" marL="0">
              <a:lnSpc>
                <a:spcPts val="28875"/>
              </a:lnSpc>
              <a:buNone/>
            </a:pPr>
            <a:r>
              <a:rPr lang="en-US" sz="26250" spc="-1312" kern="0" dirty="0">
                <a:solidFill>
                  <a:srgbClr val="000000">
                    <a:alpha val="99000"/>
                  </a:srgbClr>
                </a:solidFill>
                <a:latin typeface="Plus Jakarta Sans" pitchFamily="34" charset="0"/>
                <a:ea typeface="Plus Jakarta Sans" pitchFamily="34" charset="-122"/>
                <a:cs typeface="Plus Jakarta Sans" pitchFamily="34" charset="-120"/>
              </a:rPr>
              <a:t>01</a:t>
            </a:r>
            <a:endParaRPr lang="en-US" sz="26250" dirty="0"/>
          </a:p>
        </p:txBody>
      </p:sp>
      <p:sp>
        <p:nvSpPr>
          <p:cNvPr id="8" name="Text 6"/>
          <p:cNvSpPr/>
          <p:nvPr/>
        </p:nvSpPr>
        <p:spPr>
          <a:xfrm>
            <a:off x="742950" y="1047750"/>
            <a:ext cx="4829175" cy="1571625"/>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Meet</a:t>
            </a:r>
            <a:endParaRPr lang="en-US" sz="5625" dirty="0"/>
          </a:p>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the Problem</a:t>
            </a:r>
            <a:endParaRPr lang="en-US" sz="56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3362"/>
            <a:ext cx="2771775" cy="4814888"/>
          </a:xfrm>
          <a:prstGeom prst="roundRect">
            <a:avLst>
              <a:gd name="adj" fmla="val 4948"/>
            </a:avLst>
          </a:prstGeom>
          <a:solidFill>
            <a:srgbClr val="F5F1E9"/>
          </a:solidFill>
          <a:ln/>
        </p:spPr>
      </p:sp>
      <p:sp>
        <p:nvSpPr>
          <p:cNvPr id="4" name="Shape 1"/>
          <p:cNvSpPr/>
          <p:nvPr/>
        </p:nvSpPr>
        <p:spPr>
          <a:xfrm>
            <a:off x="3643313" y="1052513"/>
            <a:ext cx="2119313" cy="1119188"/>
          </a:xfrm>
          <a:prstGeom prst="rect">
            <a:avLst/>
          </a:prstGeom>
          <a:noFill/>
          <a:ln/>
        </p:spPr>
      </p:sp>
      <p:sp>
        <p:nvSpPr>
          <p:cNvPr id="5" name="Shape 2"/>
          <p:cNvSpPr/>
          <p:nvPr/>
        </p:nvSpPr>
        <p:spPr>
          <a:xfrm>
            <a:off x="3643313" y="2890838"/>
            <a:ext cx="2181225" cy="1119188"/>
          </a:xfrm>
          <a:prstGeom prst="rect">
            <a:avLst/>
          </a:prstGeom>
          <a:noFill/>
          <a:ln/>
        </p:spPr>
      </p:sp>
      <p:sp>
        <p:nvSpPr>
          <p:cNvPr id="6" name="Shape 3"/>
          <p:cNvSpPr/>
          <p:nvPr/>
        </p:nvSpPr>
        <p:spPr>
          <a:xfrm>
            <a:off x="6229350" y="1052513"/>
            <a:ext cx="2119313" cy="1119188"/>
          </a:xfrm>
          <a:prstGeom prst="rect">
            <a:avLst/>
          </a:prstGeom>
          <a:noFill/>
          <a:ln/>
        </p:spPr>
      </p:sp>
      <p:sp>
        <p:nvSpPr>
          <p:cNvPr id="7" name="Shape 4"/>
          <p:cNvSpPr/>
          <p:nvPr/>
        </p:nvSpPr>
        <p:spPr>
          <a:xfrm>
            <a:off x="6229350" y="2890838"/>
            <a:ext cx="2119313" cy="1119188"/>
          </a:xfrm>
          <a:prstGeom prst="rect">
            <a:avLst/>
          </a:prstGeom>
          <a:noFill/>
          <a:ln/>
        </p:spPr>
      </p:sp>
      <p:sp>
        <p:nvSpPr>
          <p:cNvPr id="8" name="Shape 5"/>
          <p:cNvSpPr/>
          <p:nvPr/>
        </p:nvSpPr>
        <p:spPr>
          <a:xfrm>
            <a:off x="352425" y="1143000"/>
            <a:ext cx="2486025" cy="876300"/>
          </a:xfrm>
          <a:prstGeom prst="rect">
            <a:avLst/>
          </a:prstGeom>
          <a:noFill/>
          <a:ln/>
        </p:spPr>
      </p:sp>
      <p:pic>
        <p:nvPicPr>
          <p:cNvPr id="9" name="Image 0" descr="preencoded.png">    </p:cNvPr>
          <p:cNvPicPr>
            <a:picLocks noChangeAspect="1"/>
          </p:cNvPicPr>
          <p:nvPr/>
        </p:nvPicPr>
        <p:blipFill>
          <a:blip r:embed="rId1"/>
          <a:stretch>
            <a:fillRect/>
          </a:stretch>
        </p:blipFill>
        <p:spPr>
          <a:xfrm>
            <a:off x="2957513" y="233362"/>
            <a:ext cx="6096000" cy="4814888"/>
          </a:xfrm>
          <a:prstGeom prst="rect">
            <a:avLst/>
          </a:prstGeom>
        </p:spPr>
      </p:pic>
      <p:pic>
        <p:nvPicPr>
          <p:cNvPr id="10" name="Image 1" descr="preencoded.png">    </p:cNvPr>
          <p:cNvPicPr>
            <a:picLocks noChangeAspect="1"/>
          </p:cNvPicPr>
          <p:nvPr/>
        </p:nvPicPr>
        <p:blipFill>
          <a:blip r:embed="rId2"/>
          <a:stretch>
            <a:fillRect/>
          </a:stretch>
        </p:blipFill>
        <p:spPr>
          <a:xfrm>
            <a:off x="400050" y="2276475"/>
            <a:ext cx="2123526" cy="2119313"/>
          </a:xfrm>
          <a:prstGeom prst="rect">
            <a:avLst/>
          </a:prstGeom>
        </p:spPr>
      </p:pic>
      <p:sp>
        <p:nvSpPr>
          <p:cNvPr id="11" name="Text 6"/>
          <p:cNvSpPr/>
          <p:nvPr/>
        </p:nvSpPr>
        <p:spPr>
          <a:xfrm>
            <a:off x="4862513" y="4872038"/>
            <a:ext cx="4548188" cy="66675"/>
          </a:xfrm>
          <a:prstGeom prst="rect">
            <a:avLst/>
          </a:prstGeom>
          <a:noFill/>
          <a:ln/>
        </p:spPr>
        <p:txBody>
          <a:bodyPr wrap="square" rtlCol="0" anchor="ctr"/>
          <a:lstStyle/>
          <a:p>
            <a:pPr algn="r" indent="0" marL="0">
              <a:lnSpc>
                <a:spcPts val="536"/>
              </a:lnSpc>
              <a:buNone/>
            </a:pPr>
            <a:r>
              <a:rPr lang="en-US" sz="488" b="1" u="sng" spc="34" kern="0" dirty="0">
                <a:solidFill>
                  <a:srgbClr val="000000">
                    <a:alpha val="99000"/>
                  </a:srgbClr>
                </a:solidFill>
                <a:latin typeface="Plus Jakarta Sans" pitchFamily="34" charset="0"/>
                <a:ea typeface="Plus Jakarta Sans" pitchFamily="34" charset="-122"/>
                <a:cs typeface="Plus Jakarta Sans" pitchFamily="34" charset="-120"/>
              </a:rPr>
              <a:t>HTTPS://WWW.STAYENERGYSAFE.CO.UK/MORE-ON-ENERGY-THEFT/ENERGY-THEFT-LATEST-FACTS-AND-STATISTICS</a:t>
            </a:r>
            <a:endParaRPr lang="en-US" sz="488" dirty="0"/>
          </a:p>
        </p:txBody>
      </p:sp>
      <p:sp>
        <p:nvSpPr>
          <p:cNvPr id="12" name="Text 7"/>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3" name="Text 8"/>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4" name="Text 9"/>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5" name="Text 10"/>
          <p:cNvSpPr/>
          <p:nvPr/>
        </p:nvSpPr>
        <p:spPr>
          <a:xfrm>
            <a:off x="8758238" y="4491038"/>
            <a:ext cx="571500"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4</a:t>
            </a:r>
            <a:endParaRPr lang="en-US" sz="1350" dirty="0"/>
          </a:p>
        </p:txBody>
      </p:sp>
      <p:sp>
        <p:nvSpPr>
          <p:cNvPr id="16" name="Text 11"/>
          <p:cNvSpPr/>
          <p:nvPr/>
        </p:nvSpPr>
        <p:spPr>
          <a:xfrm>
            <a:off x="6229350" y="2890838"/>
            <a:ext cx="2576513"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$50</a:t>
            </a:r>
            <a:endParaRPr lang="en-US" sz="5625" dirty="0"/>
          </a:p>
        </p:txBody>
      </p:sp>
      <p:sp>
        <p:nvSpPr>
          <p:cNvPr id="17" name="Text 12"/>
          <p:cNvSpPr/>
          <p:nvPr/>
        </p:nvSpPr>
        <p:spPr>
          <a:xfrm>
            <a:off x="6229350" y="3724275"/>
            <a:ext cx="2576513" cy="285750"/>
          </a:xfrm>
          <a:prstGeom prst="rect">
            <a:avLst/>
          </a:prstGeom>
          <a:noFill/>
          <a:ln/>
        </p:spPr>
        <p:txBody>
          <a:bodyPr wrap="square" rtlCol="0" anchor="ctr"/>
          <a:lstStyle/>
          <a:p>
            <a:pPr algn="ctr"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per household</a:t>
            </a:r>
            <a:endParaRPr lang="en-US" sz="1500" dirty="0"/>
          </a:p>
        </p:txBody>
      </p:sp>
      <p:sp>
        <p:nvSpPr>
          <p:cNvPr id="18" name="Text 13"/>
          <p:cNvSpPr/>
          <p:nvPr/>
        </p:nvSpPr>
        <p:spPr>
          <a:xfrm>
            <a:off x="6229350" y="1052513"/>
            <a:ext cx="2576513"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304%</a:t>
            </a:r>
            <a:endParaRPr lang="en-US" sz="5625" dirty="0"/>
          </a:p>
        </p:txBody>
      </p:sp>
      <p:sp>
        <p:nvSpPr>
          <p:cNvPr id="19" name="Text 14"/>
          <p:cNvSpPr/>
          <p:nvPr/>
        </p:nvSpPr>
        <p:spPr>
          <a:xfrm>
            <a:off x="6229350" y="1885950"/>
            <a:ext cx="2576513" cy="285750"/>
          </a:xfrm>
          <a:prstGeom prst="rect">
            <a:avLst/>
          </a:prstGeom>
          <a:noFill/>
          <a:ln/>
        </p:spPr>
        <p:txBody>
          <a:bodyPr wrap="square" rtlCol="0" anchor="ctr"/>
          <a:lstStyle/>
          <a:p>
            <a:pPr algn="ctr"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in 6 years</a:t>
            </a:r>
            <a:endParaRPr lang="en-US" sz="1500" dirty="0"/>
          </a:p>
        </p:txBody>
      </p:sp>
      <p:sp>
        <p:nvSpPr>
          <p:cNvPr id="20" name="Text 15"/>
          <p:cNvSpPr/>
          <p:nvPr/>
        </p:nvSpPr>
        <p:spPr>
          <a:xfrm>
            <a:off x="3643313" y="2890838"/>
            <a:ext cx="2638425"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13,415</a:t>
            </a:r>
            <a:endParaRPr lang="en-US" sz="5625" dirty="0"/>
          </a:p>
        </p:txBody>
      </p:sp>
      <p:sp>
        <p:nvSpPr>
          <p:cNvPr id="21" name="Text 16"/>
          <p:cNvSpPr/>
          <p:nvPr/>
        </p:nvSpPr>
        <p:spPr>
          <a:xfrm>
            <a:off x="3643313" y="3724275"/>
            <a:ext cx="2638425" cy="285750"/>
          </a:xfrm>
          <a:prstGeom prst="rect">
            <a:avLst/>
          </a:prstGeom>
          <a:noFill/>
          <a:ln/>
        </p:spPr>
        <p:txBody>
          <a:bodyPr wrap="square" rtlCol="0" anchor="ctr"/>
          <a:lstStyle/>
          <a:p>
            <a:pPr algn="ctr"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per year</a:t>
            </a:r>
            <a:endParaRPr lang="en-US" sz="1500" dirty="0"/>
          </a:p>
        </p:txBody>
      </p:sp>
      <p:sp>
        <p:nvSpPr>
          <p:cNvPr id="22" name="Text 17"/>
          <p:cNvSpPr/>
          <p:nvPr/>
        </p:nvSpPr>
        <p:spPr>
          <a:xfrm>
            <a:off x="3643313" y="1052513"/>
            <a:ext cx="2576513"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$1.4b</a:t>
            </a:r>
            <a:endParaRPr lang="en-US" sz="5625" dirty="0"/>
          </a:p>
        </p:txBody>
      </p:sp>
      <p:sp>
        <p:nvSpPr>
          <p:cNvPr id="23" name="Text 18"/>
          <p:cNvSpPr/>
          <p:nvPr/>
        </p:nvSpPr>
        <p:spPr>
          <a:xfrm>
            <a:off x="3643313" y="1885950"/>
            <a:ext cx="2576513" cy="285750"/>
          </a:xfrm>
          <a:prstGeom prst="rect">
            <a:avLst/>
          </a:prstGeom>
          <a:noFill/>
          <a:ln/>
        </p:spPr>
        <p:txBody>
          <a:bodyPr wrap="square" rtlCol="0" anchor="ctr"/>
          <a:lstStyle/>
          <a:p>
            <a:pPr algn="ctr"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per year</a:t>
            </a:r>
            <a:endParaRPr lang="en-US" sz="1500" dirty="0"/>
          </a:p>
        </p:txBody>
      </p:sp>
      <p:sp>
        <p:nvSpPr>
          <p:cNvPr id="24" name="Text 19"/>
          <p:cNvSpPr/>
          <p:nvPr/>
        </p:nvSpPr>
        <p:spPr>
          <a:xfrm>
            <a:off x="352425" y="1143000"/>
            <a:ext cx="2943225" cy="733425"/>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Meter manipulation</a:t>
            </a:r>
            <a:endParaRPr lang="en-US" sz="26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3362"/>
            <a:ext cx="8963025" cy="4814888"/>
          </a:xfrm>
          <a:prstGeom prst="roundRect">
            <a:avLst>
              <a:gd name="adj" fmla="val 2849"/>
            </a:avLst>
          </a:prstGeom>
          <a:solidFill>
            <a:srgbClr val="F5F1E9"/>
          </a:solidFill>
          <a:ln/>
        </p:spPr>
      </p:sp>
      <p:sp>
        <p:nvSpPr>
          <p:cNvPr id="4" name="Shape 1"/>
          <p:cNvSpPr/>
          <p:nvPr/>
        </p:nvSpPr>
        <p:spPr>
          <a:xfrm>
            <a:off x="3571875" y="1000125"/>
            <a:ext cx="4948238" cy="581025"/>
          </a:xfrm>
          <a:prstGeom prst="rect">
            <a:avLst/>
          </a:prstGeom>
          <a:noFill/>
          <a:ln/>
        </p:spPr>
      </p:sp>
      <p:sp>
        <p:nvSpPr>
          <p:cNvPr id="5" name="Shape 2"/>
          <p:cNvSpPr/>
          <p:nvPr/>
        </p:nvSpPr>
        <p:spPr>
          <a:xfrm>
            <a:off x="3571875" y="2057400"/>
            <a:ext cx="3200400" cy="838200"/>
          </a:xfrm>
          <a:prstGeom prst="rect">
            <a:avLst/>
          </a:prstGeom>
          <a:noFill/>
          <a:ln/>
        </p:spPr>
      </p:sp>
      <p:sp>
        <p:nvSpPr>
          <p:cNvPr id="6" name="Shape 3"/>
          <p:cNvSpPr/>
          <p:nvPr/>
        </p:nvSpPr>
        <p:spPr>
          <a:xfrm>
            <a:off x="3571875" y="3371850"/>
            <a:ext cx="4948238" cy="838200"/>
          </a:xfrm>
          <a:prstGeom prst="rect">
            <a:avLst/>
          </a:prstGeom>
          <a:noFill/>
          <a:ln/>
        </p:spPr>
      </p:sp>
      <p:sp>
        <p:nvSpPr>
          <p:cNvPr id="7" name="Shape 4"/>
          <p:cNvSpPr/>
          <p:nvPr/>
        </p:nvSpPr>
        <p:spPr>
          <a:xfrm>
            <a:off x="3571875" y="3371850"/>
            <a:ext cx="190500" cy="190500"/>
          </a:xfrm>
          <a:prstGeom prst="rect">
            <a:avLst/>
          </a:prstGeom>
          <a:noFill/>
          <a:ln/>
        </p:spPr>
      </p:sp>
      <p:sp>
        <p:nvSpPr>
          <p:cNvPr id="8" name="Shape 5"/>
          <p:cNvSpPr/>
          <p:nvPr/>
        </p:nvSpPr>
        <p:spPr>
          <a:xfrm>
            <a:off x="4029075" y="3371850"/>
            <a:ext cx="4491038" cy="838200"/>
          </a:xfrm>
          <a:prstGeom prst="rect">
            <a:avLst/>
          </a:prstGeom>
          <a:noFill/>
          <a:ln/>
        </p:spPr>
      </p:sp>
      <p:sp>
        <p:nvSpPr>
          <p:cNvPr id="9" name="Shape 6"/>
          <p:cNvSpPr/>
          <p:nvPr/>
        </p:nvSpPr>
        <p:spPr>
          <a:xfrm>
            <a:off x="3571875" y="3371850"/>
            <a:ext cx="190500" cy="190500"/>
          </a:xfrm>
          <a:prstGeom prst="roundRect">
            <a:avLst/>
          </a:prstGeom>
          <a:solidFill>
            <a:srgbClr val="000000"/>
          </a:solidFill>
          <a:ln/>
        </p:spPr>
      </p:sp>
      <p:sp>
        <p:nvSpPr>
          <p:cNvPr id="10" name="Shape 7"/>
          <p:cNvSpPr/>
          <p:nvPr/>
        </p:nvSpPr>
        <p:spPr>
          <a:xfrm>
            <a:off x="3571875" y="2057400"/>
            <a:ext cx="190500" cy="190500"/>
          </a:xfrm>
          <a:prstGeom prst="rect">
            <a:avLst/>
          </a:prstGeom>
          <a:noFill/>
          <a:ln/>
        </p:spPr>
      </p:sp>
      <p:sp>
        <p:nvSpPr>
          <p:cNvPr id="11" name="Shape 8"/>
          <p:cNvSpPr/>
          <p:nvPr/>
        </p:nvSpPr>
        <p:spPr>
          <a:xfrm>
            <a:off x="4029075" y="2057400"/>
            <a:ext cx="2743200" cy="838200"/>
          </a:xfrm>
          <a:prstGeom prst="rect">
            <a:avLst/>
          </a:prstGeom>
          <a:noFill/>
          <a:ln/>
        </p:spPr>
      </p:sp>
      <p:sp>
        <p:nvSpPr>
          <p:cNvPr id="12" name="Shape 9"/>
          <p:cNvSpPr/>
          <p:nvPr/>
        </p:nvSpPr>
        <p:spPr>
          <a:xfrm>
            <a:off x="3571875" y="2057400"/>
            <a:ext cx="190500" cy="190500"/>
          </a:xfrm>
          <a:prstGeom prst="roundRect">
            <a:avLst/>
          </a:prstGeom>
          <a:solidFill>
            <a:srgbClr val="000000"/>
          </a:solidFill>
          <a:ln/>
        </p:spPr>
      </p:sp>
      <p:sp>
        <p:nvSpPr>
          <p:cNvPr id="13" name="Shape 10"/>
          <p:cNvSpPr/>
          <p:nvPr/>
        </p:nvSpPr>
        <p:spPr>
          <a:xfrm>
            <a:off x="3571875" y="1000125"/>
            <a:ext cx="190500" cy="190500"/>
          </a:xfrm>
          <a:prstGeom prst="rect">
            <a:avLst/>
          </a:prstGeom>
          <a:noFill/>
          <a:ln/>
        </p:spPr>
      </p:sp>
      <p:sp>
        <p:nvSpPr>
          <p:cNvPr id="14" name="Shape 11"/>
          <p:cNvSpPr/>
          <p:nvPr/>
        </p:nvSpPr>
        <p:spPr>
          <a:xfrm>
            <a:off x="4029075" y="1000125"/>
            <a:ext cx="4533900" cy="581025"/>
          </a:xfrm>
          <a:prstGeom prst="rect">
            <a:avLst/>
          </a:prstGeom>
          <a:noFill/>
          <a:ln/>
        </p:spPr>
      </p:sp>
      <p:sp>
        <p:nvSpPr>
          <p:cNvPr id="15" name="Shape 12"/>
          <p:cNvSpPr/>
          <p:nvPr/>
        </p:nvSpPr>
        <p:spPr>
          <a:xfrm>
            <a:off x="3571875" y="1000125"/>
            <a:ext cx="190500" cy="190500"/>
          </a:xfrm>
          <a:prstGeom prst="roundRect">
            <a:avLst/>
          </a:prstGeom>
          <a:solidFill>
            <a:srgbClr val="000000"/>
          </a:solidFill>
          <a:ln/>
        </p:spPr>
      </p:sp>
      <p:sp>
        <p:nvSpPr>
          <p:cNvPr id="16" name="Text 13"/>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7" name="Text 14"/>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8" name="Text 15"/>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9" name="Text 16"/>
          <p:cNvSpPr/>
          <p:nvPr/>
        </p:nvSpPr>
        <p:spPr>
          <a:xfrm>
            <a:off x="8758238" y="4491038"/>
            <a:ext cx="561975"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5</a:t>
            </a:r>
            <a:endParaRPr lang="en-US" sz="1350" dirty="0"/>
          </a:p>
        </p:txBody>
      </p:sp>
      <p:sp>
        <p:nvSpPr>
          <p:cNvPr id="20" name="Text 17"/>
          <p:cNvSpPr/>
          <p:nvPr/>
        </p:nvSpPr>
        <p:spPr>
          <a:xfrm>
            <a:off x="347663" y="871538"/>
            <a:ext cx="2895600"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Our goal &amp; KPIs</a:t>
            </a:r>
            <a:endParaRPr lang="en-US" sz="2625" dirty="0"/>
          </a:p>
        </p:txBody>
      </p:sp>
      <p:sp>
        <p:nvSpPr>
          <p:cNvPr id="21" name="Text 18"/>
          <p:cNvSpPr/>
          <p:nvPr/>
        </p:nvSpPr>
        <p:spPr>
          <a:xfrm>
            <a:off x="4029075" y="3371850"/>
            <a:ext cx="4948238"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REVENUE INCREASE</a:t>
            </a:r>
            <a:endParaRPr lang="en-US" sz="1500" dirty="0"/>
          </a:p>
        </p:txBody>
      </p:sp>
      <p:sp>
        <p:nvSpPr>
          <p:cNvPr id="22" name="Text 19"/>
          <p:cNvSpPr/>
          <p:nvPr/>
        </p:nvSpPr>
        <p:spPr>
          <a:xfrm>
            <a:off x="4029075" y="3695700"/>
            <a:ext cx="4948238"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Revenue  =  </a:t>
            </a:r>
            <a:pPr algn="l" indent="0" marL="0">
              <a:lnSpc>
                <a:spcPts val="2025"/>
              </a:lnSpc>
              <a:buNone/>
            </a:pPr>
            <a:r>
              <a:rPr lang="en-US" sz="1350" u="sng" spc="-30" kern="0" dirty="0">
                <a:solidFill>
                  <a:srgbClr val="000000">
                    <a:alpha val="99000"/>
                  </a:srgbClr>
                </a:solidFill>
                <a:latin typeface="Inter" pitchFamily="34" charset="0"/>
                <a:ea typeface="Inter" pitchFamily="34" charset="-122"/>
                <a:cs typeface="Inter" pitchFamily="34" charset="-120"/>
              </a:rPr>
              <a:t>Unit price</a:t>
            </a:r>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  x  Paying users</a:t>
            </a:r>
            <a:endParaRPr lang="en-US" sz="1350" dirty="0"/>
          </a:p>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Our goal is to correct </a:t>
            </a:r>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the </a:t>
            </a:r>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unit price for fraudulent users</a:t>
            </a:r>
            <a:endParaRPr lang="en-US" sz="1350" dirty="0"/>
          </a:p>
        </p:txBody>
      </p:sp>
      <p:sp>
        <p:nvSpPr>
          <p:cNvPr id="23" name="Text 20"/>
          <p:cNvSpPr/>
          <p:nvPr/>
        </p:nvSpPr>
        <p:spPr>
          <a:xfrm>
            <a:off x="4029075" y="2057400"/>
            <a:ext cx="3200400"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MODEL ACCURACY</a:t>
            </a:r>
            <a:endParaRPr lang="en-US" sz="1500" dirty="0"/>
          </a:p>
        </p:txBody>
      </p:sp>
      <p:sp>
        <p:nvSpPr>
          <p:cNvPr id="24" name="Text 21"/>
          <p:cNvSpPr/>
          <p:nvPr/>
        </p:nvSpPr>
        <p:spPr>
          <a:xfrm>
            <a:off x="4029075" y="2381250"/>
            <a:ext cx="3200400"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Accuracy, Precision, Recall</a:t>
            </a:r>
            <a:endParaRPr lang="en-US" sz="1350" dirty="0"/>
          </a:p>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F1 score, AUC score </a:t>
            </a:r>
            <a:endParaRPr lang="en-US" sz="1350" dirty="0"/>
          </a:p>
        </p:txBody>
      </p:sp>
      <p:sp>
        <p:nvSpPr>
          <p:cNvPr id="25" name="Text 22"/>
          <p:cNvSpPr/>
          <p:nvPr/>
        </p:nvSpPr>
        <p:spPr>
          <a:xfrm>
            <a:off x="4029075" y="1000125"/>
            <a:ext cx="4991100"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EARLY FRAUD DETECTION</a:t>
            </a:r>
            <a:endParaRPr lang="en-US" sz="1500" dirty="0"/>
          </a:p>
        </p:txBody>
      </p:sp>
      <p:sp>
        <p:nvSpPr>
          <p:cNvPr id="26" name="Text 23"/>
          <p:cNvSpPr/>
          <p:nvPr/>
        </p:nvSpPr>
        <p:spPr>
          <a:xfrm>
            <a:off x="4029075" y="1323975"/>
            <a:ext cx="4991100"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By building a model, we aim to catch fraudulent activities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5710238" y="2390775"/>
            <a:ext cx="3228975" cy="1833563"/>
          </a:xfrm>
          <a:prstGeom prst="rect">
            <a:avLst/>
          </a:prstGeom>
          <a:noFill/>
          <a:ln/>
        </p:spPr>
        <p:txBody>
          <a:bodyPr wrap="square" rtlCol="0" anchor="ctr"/>
          <a:lstStyle/>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Data</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Features</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Metrics </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Threshold</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Sampling</a:t>
            </a:r>
            <a:endParaRPr lang="en-US" sz="2625" dirty="0"/>
          </a:p>
        </p:txBody>
      </p:sp>
      <p:sp>
        <p:nvSpPr>
          <p:cNvPr id="4" name="Text 2"/>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5" name="Text 3"/>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6" name="Text 4"/>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7" name="Text 5"/>
          <p:cNvSpPr/>
          <p:nvPr/>
        </p:nvSpPr>
        <p:spPr>
          <a:xfrm>
            <a:off x="-533400" y="1352550"/>
            <a:ext cx="5343525" cy="3667125"/>
          </a:xfrm>
          <a:prstGeom prst="rect">
            <a:avLst/>
          </a:prstGeom>
          <a:noFill/>
          <a:ln/>
        </p:spPr>
        <p:txBody>
          <a:bodyPr wrap="square" rtlCol="0" anchor="ctr"/>
          <a:lstStyle/>
          <a:p>
            <a:pPr algn="r" indent="0" marL="0">
              <a:lnSpc>
                <a:spcPts val="28875"/>
              </a:lnSpc>
              <a:buNone/>
            </a:pPr>
            <a:r>
              <a:rPr lang="en-US" sz="26250" spc="-1312" kern="0" dirty="0">
                <a:solidFill>
                  <a:srgbClr val="000000">
                    <a:alpha val="99000"/>
                  </a:srgbClr>
                </a:solidFill>
                <a:latin typeface="Plus Jakarta Sans" pitchFamily="34" charset="0"/>
                <a:ea typeface="Plus Jakarta Sans" pitchFamily="34" charset="-122"/>
                <a:cs typeface="Plus Jakarta Sans" pitchFamily="34" charset="-120"/>
              </a:rPr>
              <a:t>02</a:t>
            </a:r>
            <a:endParaRPr lang="en-US" sz="26250" dirty="0"/>
          </a:p>
        </p:txBody>
      </p:sp>
      <p:sp>
        <p:nvSpPr>
          <p:cNvPr id="8" name="Text 6"/>
          <p:cNvSpPr/>
          <p:nvPr/>
        </p:nvSpPr>
        <p:spPr>
          <a:xfrm>
            <a:off x="8758238" y="4491038"/>
            <a:ext cx="5667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6</a:t>
            </a:r>
            <a:endParaRPr lang="en-US" sz="1350" dirty="0"/>
          </a:p>
        </p:txBody>
      </p:sp>
      <p:sp>
        <p:nvSpPr>
          <p:cNvPr id="9" name="Text 7"/>
          <p:cNvSpPr/>
          <p:nvPr/>
        </p:nvSpPr>
        <p:spPr>
          <a:xfrm>
            <a:off x="4743450" y="1000125"/>
            <a:ext cx="4243388" cy="785813"/>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Workflow</a:t>
            </a:r>
            <a:endParaRPr lang="en-US" sz="56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128588" y="795338"/>
            <a:ext cx="2221735" cy="4191000"/>
          </a:xfrm>
          <a:prstGeom prst="rect">
            <a:avLst/>
          </a:prstGeom>
          <a:solidFill>
            <a:srgbClr val="E498FF">
              <a:alpha val="40000"/>
            </a:srgbClr>
          </a:solidFill>
          <a:ln/>
        </p:spPr>
      </p:sp>
      <p:sp>
        <p:nvSpPr>
          <p:cNvPr id="3" name="Shape 1"/>
          <p:cNvSpPr/>
          <p:nvPr/>
        </p:nvSpPr>
        <p:spPr>
          <a:xfrm>
            <a:off x="2350322" y="795338"/>
            <a:ext cx="2171700" cy="4191000"/>
          </a:xfrm>
          <a:prstGeom prst="rect">
            <a:avLst/>
          </a:prstGeom>
          <a:solidFill>
            <a:srgbClr val="817DFF">
              <a:alpha val="20000"/>
            </a:srgbClr>
          </a:solidFill>
          <a:ln/>
        </p:spPr>
      </p:sp>
      <p:sp>
        <p:nvSpPr>
          <p:cNvPr id="4" name="Shape 2"/>
          <p:cNvSpPr/>
          <p:nvPr/>
        </p:nvSpPr>
        <p:spPr>
          <a:xfrm>
            <a:off x="4522077" y="795338"/>
            <a:ext cx="2271713" cy="4191000"/>
          </a:xfrm>
          <a:prstGeom prst="rect">
            <a:avLst/>
          </a:prstGeom>
          <a:solidFill>
            <a:srgbClr val="2298FF">
              <a:alpha val="40000"/>
            </a:srgbClr>
          </a:solidFill>
          <a:ln/>
        </p:spPr>
      </p:sp>
      <p:sp>
        <p:nvSpPr>
          <p:cNvPr id="5" name="Shape 3"/>
          <p:cNvSpPr/>
          <p:nvPr/>
        </p:nvSpPr>
        <p:spPr>
          <a:xfrm>
            <a:off x="6793790" y="795338"/>
            <a:ext cx="2257425" cy="4191000"/>
          </a:xfrm>
          <a:prstGeom prst="rect">
            <a:avLst/>
          </a:prstGeom>
          <a:solidFill>
            <a:srgbClr val="817DFF">
              <a:alpha val="20000"/>
            </a:srgbClr>
          </a:solidFill>
          <a:ln/>
        </p:spPr>
      </p:sp>
      <p:sp>
        <p:nvSpPr>
          <p:cNvPr id="6" name="Shape 4"/>
          <p:cNvSpPr/>
          <p:nvPr/>
        </p:nvSpPr>
        <p:spPr>
          <a:xfrm>
            <a:off x="128588" y="576263"/>
            <a:ext cx="2224088" cy="623888"/>
          </a:xfrm>
          <a:prstGeom prst="rect">
            <a:avLst/>
          </a:prstGeom>
          <a:solidFill>
            <a:srgbClr val="E498FF"/>
          </a:solidFill>
          <a:ln/>
        </p:spPr>
      </p:sp>
      <p:sp>
        <p:nvSpPr>
          <p:cNvPr id="7" name="Shape 5"/>
          <p:cNvSpPr/>
          <p:nvPr/>
        </p:nvSpPr>
        <p:spPr>
          <a:xfrm>
            <a:off x="2352675" y="576263"/>
            <a:ext cx="2171700" cy="623888"/>
          </a:xfrm>
          <a:prstGeom prst="rect">
            <a:avLst/>
          </a:prstGeom>
          <a:solidFill>
            <a:srgbClr val="9592FF"/>
          </a:solidFill>
          <a:ln/>
        </p:spPr>
      </p:sp>
      <p:sp>
        <p:nvSpPr>
          <p:cNvPr id="8" name="Shape 6"/>
          <p:cNvSpPr/>
          <p:nvPr/>
        </p:nvSpPr>
        <p:spPr>
          <a:xfrm>
            <a:off x="4524375" y="576263"/>
            <a:ext cx="2271713" cy="628650"/>
          </a:xfrm>
          <a:prstGeom prst="rect">
            <a:avLst/>
          </a:prstGeom>
          <a:solidFill>
            <a:srgbClr val="5EB4FF"/>
          </a:solidFill>
          <a:ln/>
        </p:spPr>
      </p:sp>
      <p:sp>
        <p:nvSpPr>
          <p:cNvPr id="9" name="Shape 7"/>
          <p:cNvSpPr/>
          <p:nvPr/>
        </p:nvSpPr>
        <p:spPr>
          <a:xfrm>
            <a:off x="6796088" y="576263"/>
            <a:ext cx="2257425" cy="623888"/>
          </a:xfrm>
          <a:prstGeom prst="rect">
            <a:avLst/>
          </a:prstGeom>
          <a:solidFill>
            <a:srgbClr val="9592FF"/>
          </a:solidFill>
          <a:ln/>
        </p:spPr>
      </p:sp>
      <p:sp>
        <p:nvSpPr>
          <p:cNvPr id="10" name="Text 8"/>
          <p:cNvSpPr/>
          <p:nvPr/>
        </p:nvSpPr>
        <p:spPr>
          <a:xfrm>
            <a:off x="290168" y="3845173"/>
            <a:ext cx="1863228" cy="1050275"/>
          </a:xfrm>
          <a:prstGeom prst="diamond">
            <a:avLst/>
          </a:prstGeom>
          <a:solidFill>
            <a:srgbClr val="E498FF"/>
          </a:solidFill>
          <a:ln/>
        </p:spPr>
        <p:txBody>
          <a:bodyPr wrap="square" rtlCol="0" anchor="ctr"/>
          <a:lstStyle/>
          <a:p>
            <a:pPr indent="0" marL="0">
              <a:buNone/>
            </a:pPr>
            <a:r>
              <a:rPr lang="en-US" dirty="0">
                <a:solidFill>
                  <a:srgbClr val="000000"/>
                </a:solidFill>
              </a:rPr>
              <a:t>Mutual Information</a:t>
            </a:r>
            <a:endParaRPr lang="en-US" dirty="0"/>
          </a:p>
        </p:txBody>
      </p:sp>
      <p:sp>
        <p:nvSpPr>
          <p:cNvPr id="11" name="Shape 9"/>
          <p:cNvSpPr/>
          <p:nvPr/>
        </p:nvSpPr>
        <p:spPr>
          <a:xfrm>
            <a:off x="4457700" y="609600"/>
            <a:ext cx="4548188" cy="4376738"/>
          </a:xfrm>
          <a:prstGeom prst="rect">
            <a:avLst/>
          </a:prstGeom>
          <a:solidFill>
            <a:srgbClr val="000000">
              <a:alpha val="70000"/>
            </a:srgbClr>
          </a:solidFill>
          <a:ln/>
        </p:spPr>
      </p:sp>
      <p:pic>
        <p:nvPicPr>
          <p:cNvPr id="12" name="Image 0" descr="preencoded.png">    </p:cNvPr>
          <p:cNvPicPr>
            <a:picLocks noChangeAspect="1"/>
          </p:cNvPicPr>
          <p:nvPr/>
        </p:nvPicPr>
        <p:blipFill>
          <a:blip r:embed="rId1"/>
          <a:stretch>
            <a:fillRect/>
          </a:stretch>
        </p:blipFill>
        <p:spPr>
          <a:xfrm>
            <a:off x="7115175" y="1795463"/>
            <a:ext cx="1838325" cy="909638"/>
          </a:xfrm>
          <a:prstGeom prst="rect">
            <a:avLst/>
          </a:prstGeom>
        </p:spPr>
      </p:pic>
      <p:pic>
        <p:nvPicPr>
          <p:cNvPr id="13" name="Image 1" descr="preencoded.png">    </p:cNvPr>
          <p:cNvPicPr>
            <a:picLocks noChangeAspect="1"/>
          </p:cNvPicPr>
          <p:nvPr/>
        </p:nvPicPr>
        <p:blipFill>
          <a:blip r:embed="rId2"/>
          <a:stretch>
            <a:fillRect/>
          </a:stretch>
        </p:blipFill>
        <p:spPr>
          <a:xfrm>
            <a:off x="376010" y="1340673"/>
            <a:ext cx="782657" cy="908892"/>
          </a:xfrm>
          <a:prstGeom prst="rect">
            <a:avLst/>
          </a:prstGeom>
        </p:spPr>
      </p:pic>
      <p:pic>
        <p:nvPicPr>
          <p:cNvPr id="14" name="Image 2" descr="preencoded.png">    </p:cNvPr>
          <p:cNvPicPr>
            <a:picLocks noChangeAspect="1"/>
          </p:cNvPicPr>
          <p:nvPr/>
        </p:nvPicPr>
        <p:blipFill>
          <a:blip r:embed="rId3"/>
          <a:stretch>
            <a:fillRect/>
          </a:stretch>
        </p:blipFill>
        <p:spPr>
          <a:xfrm>
            <a:off x="1234404" y="1340673"/>
            <a:ext cx="782657" cy="908892"/>
          </a:xfrm>
          <a:prstGeom prst="rect">
            <a:avLst/>
          </a:prstGeom>
        </p:spPr>
      </p:pic>
      <p:pic>
        <p:nvPicPr>
          <p:cNvPr id="15" name="Image 3" descr="preencoded.png">    </p:cNvPr>
          <p:cNvPicPr>
            <a:picLocks noChangeAspect="1"/>
          </p:cNvPicPr>
          <p:nvPr/>
        </p:nvPicPr>
        <p:blipFill>
          <a:blip r:embed="rId4"/>
          <a:stretch>
            <a:fillRect/>
          </a:stretch>
        </p:blipFill>
        <p:spPr>
          <a:xfrm>
            <a:off x="2688631" y="1789348"/>
            <a:ext cx="1676400" cy="555434"/>
          </a:xfrm>
          <a:prstGeom prst="rect">
            <a:avLst/>
          </a:prstGeom>
        </p:spPr>
      </p:pic>
      <p:pic>
        <p:nvPicPr>
          <p:cNvPr id="16" name="Image 4" descr="preencoded.png">    </p:cNvPr>
          <p:cNvPicPr>
            <a:picLocks noChangeAspect="1"/>
          </p:cNvPicPr>
          <p:nvPr/>
        </p:nvPicPr>
        <p:blipFill>
          <a:blip r:embed="rId5"/>
          <a:stretch>
            <a:fillRect/>
          </a:stretch>
        </p:blipFill>
        <p:spPr>
          <a:xfrm>
            <a:off x="2668432" y="2895887"/>
            <a:ext cx="1676400" cy="560483"/>
          </a:xfrm>
          <a:prstGeom prst="rect">
            <a:avLst/>
          </a:prstGeom>
        </p:spPr>
      </p:pic>
      <p:pic>
        <p:nvPicPr>
          <p:cNvPr id="17" name="Image 5" descr="preencoded.png">    </p:cNvPr>
          <p:cNvPicPr>
            <a:picLocks noChangeAspect="1"/>
          </p:cNvPicPr>
          <p:nvPr/>
        </p:nvPicPr>
        <p:blipFill>
          <a:blip r:embed="rId6"/>
          <a:stretch>
            <a:fillRect/>
          </a:stretch>
        </p:blipFill>
        <p:spPr>
          <a:xfrm>
            <a:off x="5046701" y="1441660"/>
            <a:ext cx="1413831" cy="848299"/>
          </a:xfrm>
          <a:prstGeom prst="rect">
            <a:avLst/>
          </a:prstGeom>
        </p:spPr>
      </p:pic>
      <p:pic>
        <p:nvPicPr>
          <p:cNvPr id="18" name="Image 6" descr="preencoded.png">    </p:cNvPr>
          <p:cNvPicPr>
            <a:picLocks noChangeAspect="1"/>
          </p:cNvPicPr>
          <p:nvPr/>
        </p:nvPicPr>
        <p:blipFill>
          <a:blip r:embed="rId7"/>
          <a:stretch>
            <a:fillRect/>
          </a:stretch>
        </p:blipFill>
        <p:spPr>
          <a:xfrm>
            <a:off x="5046985" y="2597972"/>
            <a:ext cx="1413831" cy="848299"/>
          </a:xfrm>
          <a:prstGeom prst="rect">
            <a:avLst/>
          </a:prstGeom>
        </p:spPr>
      </p:pic>
      <p:pic>
        <p:nvPicPr>
          <p:cNvPr id="19" name="Image 7" descr="preencoded.png">    </p:cNvPr>
          <p:cNvPicPr>
            <a:picLocks noChangeAspect="1"/>
          </p:cNvPicPr>
          <p:nvPr/>
        </p:nvPicPr>
        <p:blipFill>
          <a:blip r:embed="rId8"/>
          <a:stretch>
            <a:fillRect/>
          </a:stretch>
        </p:blipFill>
        <p:spPr>
          <a:xfrm>
            <a:off x="7210425" y="3024188"/>
            <a:ext cx="1651155" cy="565533"/>
          </a:xfrm>
          <a:prstGeom prst="rect">
            <a:avLst/>
          </a:prstGeom>
        </p:spPr>
      </p:pic>
      <p:pic>
        <p:nvPicPr>
          <p:cNvPr id="20" name="Image 8" descr="preencoded.png">    </p:cNvPr>
          <p:cNvPicPr>
            <a:picLocks noChangeAspect="1"/>
          </p:cNvPicPr>
          <p:nvPr/>
        </p:nvPicPr>
        <p:blipFill>
          <a:blip r:embed="rId9"/>
          <a:stretch>
            <a:fillRect/>
          </a:stretch>
        </p:blipFill>
        <p:spPr>
          <a:xfrm>
            <a:off x="451749" y="2754504"/>
            <a:ext cx="1540066" cy="848299"/>
          </a:xfrm>
          <a:prstGeom prst="rect">
            <a:avLst/>
          </a:prstGeom>
        </p:spPr>
      </p:pic>
      <p:pic>
        <p:nvPicPr>
          <p:cNvPr id="21" name="Image 9" descr="preencoded.png">    </p:cNvPr>
          <p:cNvPicPr>
            <a:picLocks noChangeAspect="1"/>
          </p:cNvPicPr>
          <p:nvPr/>
        </p:nvPicPr>
        <p:blipFill>
          <a:blip r:embed="rId10"/>
          <a:stretch>
            <a:fillRect/>
          </a:stretch>
        </p:blipFill>
        <p:spPr>
          <a:xfrm>
            <a:off x="767339" y="2278139"/>
            <a:ext cx="534107" cy="464458"/>
          </a:xfrm>
          <a:prstGeom prst="rect">
            <a:avLst/>
          </a:prstGeom>
        </p:spPr>
      </p:pic>
      <p:pic>
        <p:nvPicPr>
          <p:cNvPr id="22" name="Image 10" descr="preencoded.png">    </p:cNvPr>
          <p:cNvPicPr>
            <a:picLocks noChangeAspect="1"/>
          </p:cNvPicPr>
          <p:nvPr/>
        </p:nvPicPr>
        <p:blipFill>
          <a:blip r:embed="rId11"/>
          <a:stretch>
            <a:fillRect/>
          </a:stretch>
        </p:blipFill>
        <p:spPr>
          <a:xfrm>
            <a:off x="1221781" y="2278139"/>
            <a:ext cx="483608" cy="464458"/>
          </a:xfrm>
          <a:prstGeom prst="rect">
            <a:avLst/>
          </a:prstGeom>
        </p:spPr>
      </p:pic>
      <p:pic>
        <p:nvPicPr>
          <p:cNvPr id="23" name="Image 11" descr="preencoded.png">    </p:cNvPr>
          <p:cNvPicPr>
            <a:picLocks noChangeAspect="1"/>
          </p:cNvPicPr>
          <p:nvPr/>
        </p:nvPicPr>
        <p:blipFill>
          <a:blip r:embed="rId12"/>
          <a:stretch>
            <a:fillRect/>
          </a:stretch>
        </p:blipFill>
        <p:spPr>
          <a:xfrm>
            <a:off x="1221781" y="3631377"/>
            <a:ext cx="140280" cy="201890"/>
          </a:xfrm>
          <a:prstGeom prst="rect">
            <a:avLst/>
          </a:prstGeom>
        </p:spPr>
      </p:pic>
      <p:pic>
        <p:nvPicPr>
          <p:cNvPr id="24" name="Image 12" descr="preencoded.png">    </p:cNvPr>
          <p:cNvPicPr>
            <a:picLocks noChangeAspect="1"/>
          </p:cNvPicPr>
          <p:nvPr/>
        </p:nvPicPr>
        <p:blipFill>
          <a:blip r:embed="rId13"/>
          <a:stretch>
            <a:fillRect/>
          </a:stretch>
        </p:blipFill>
        <p:spPr>
          <a:xfrm>
            <a:off x="2181969" y="2067065"/>
            <a:ext cx="494760" cy="2382913"/>
          </a:xfrm>
          <a:prstGeom prst="rect">
            <a:avLst/>
          </a:prstGeom>
        </p:spPr>
      </p:pic>
      <p:pic>
        <p:nvPicPr>
          <p:cNvPr id="25" name="Image 13" descr="preencoded.png">    </p:cNvPr>
          <p:cNvPicPr>
            <a:picLocks noChangeAspect="1"/>
          </p:cNvPicPr>
          <p:nvPr/>
        </p:nvPicPr>
        <p:blipFill>
          <a:blip r:embed="rId14"/>
          <a:stretch>
            <a:fillRect/>
          </a:stretch>
        </p:blipFill>
        <p:spPr>
          <a:xfrm>
            <a:off x="4373407" y="1865809"/>
            <a:ext cx="661392" cy="1389986"/>
          </a:xfrm>
          <a:prstGeom prst="rect">
            <a:avLst/>
          </a:prstGeom>
        </p:spPr>
      </p:pic>
      <p:pic>
        <p:nvPicPr>
          <p:cNvPr id="26" name="Image 14" descr="preencoded.png">    </p:cNvPr>
          <p:cNvPicPr>
            <a:picLocks noChangeAspect="1"/>
          </p:cNvPicPr>
          <p:nvPr/>
        </p:nvPicPr>
        <p:blipFill>
          <a:blip r:embed="rId15"/>
          <a:stretch>
            <a:fillRect/>
          </a:stretch>
        </p:blipFill>
        <p:spPr>
          <a:xfrm>
            <a:off x="5753900" y="2318534"/>
            <a:ext cx="140280" cy="267532"/>
          </a:xfrm>
          <a:prstGeom prst="rect">
            <a:avLst/>
          </a:prstGeom>
        </p:spPr>
      </p:pic>
      <p:pic>
        <p:nvPicPr>
          <p:cNvPr id="27" name="Image 15" descr="preencoded.png">    </p:cNvPr>
          <p:cNvPicPr>
            <a:picLocks noChangeAspect="1"/>
          </p:cNvPicPr>
          <p:nvPr/>
        </p:nvPicPr>
        <p:blipFill>
          <a:blip r:embed="rId16"/>
          <a:stretch>
            <a:fillRect/>
          </a:stretch>
        </p:blipFill>
        <p:spPr>
          <a:xfrm>
            <a:off x="8034338" y="2736056"/>
            <a:ext cx="140280" cy="278606"/>
          </a:xfrm>
          <a:prstGeom prst="rect">
            <a:avLst/>
          </a:prstGeom>
        </p:spPr>
      </p:pic>
      <p:pic>
        <p:nvPicPr>
          <p:cNvPr id="28" name="Image 16" descr="preencoded.png">    </p:cNvPr>
          <p:cNvPicPr>
            <a:picLocks noChangeAspect="1"/>
          </p:cNvPicPr>
          <p:nvPr/>
        </p:nvPicPr>
        <p:blipFill>
          <a:blip r:embed="rId17"/>
          <a:stretch>
            <a:fillRect/>
          </a:stretch>
        </p:blipFill>
        <p:spPr>
          <a:xfrm>
            <a:off x="2181969" y="3176129"/>
            <a:ext cx="474557" cy="1273849"/>
          </a:xfrm>
          <a:prstGeom prst="rect">
            <a:avLst/>
          </a:prstGeom>
        </p:spPr>
      </p:pic>
      <p:pic>
        <p:nvPicPr>
          <p:cNvPr id="29" name="Image 17" descr="preencoded.png">    </p:cNvPr>
          <p:cNvPicPr>
            <a:picLocks noChangeAspect="1"/>
          </p:cNvPicPr>
          <p:nvPr/>
        </p:nvPicPr>
        <p:blipFill>
          <a:blip r:embed="rId18"/>
          <a:stretch>
            <a:fillRect/>
          </a:stretch>
        </p:blipFill>
        <p:spPr>
          <a:xfrm>
            <a:off x="5046985" y="3819927"/>
            <a:ext cx="1413831" cy="848299"/>
          </a:xfrm>
          <a:prstGeom prst="rect">
            <a:avLst/>
          </a:prstGeom>
        </p:spPr>
      </p:pic>
      <p:pic>
        <p:nvPicPr>
          <p:cNvPr id="30" name="Image 18" descr="preencoded.png">    </p:cNvPr>
          <p:cNvPicPr>
            <a:picLocks noChangeAspect="1"/>
          </p:cNvPicPr>
          <p:nvPr/>
        </p:nvPicPr>
        <p:blipFill>
          <a:blip r:embed="rId19"/>
          <a:stretch>
            <a:fillRect/>
          </a:stretch>
        </p:blipFill>
        <p:spPr>
          <a:xfrm>
            <a:off x="5753900" y="3474846"/>
            <a:ext cx="140280" cy="333174"/>
          </a:xfrm>
          <a:prstGeom prst="rect">
            <a:avLst/>
          </a:prstGeom>
        </p:spPr>
      </p:pic>
      <p:pic>
        <p:nvPicPr>
          <p:cNvPr id="31" name="Image 19" descr="preencoded.png">    </p:cNvPr>
          <p:cNvPicPr>
            <a:picLocks noChangeAspect="1"/>
          </p:cNvPicPr>
          <p:nvPr/>
        </p:nvPicPr>
        <p:blipFill>
          <a:blip r:embed="rId20"/>
          <a:stretch>
            <a:fillRect/>
          </a:stretch>
        </p:blipFill>
        <p:spPr>
          <a:xfrm>
            <a:off x="6489395" y="2250281"/>
            <a:ext cx="613879" cy="2073461"/>
          </a:xfrm>
          <a:prstGeom prst="rect">
            <a:avLst/>
          </a:prstGeom>
        </p:spPr>
      </p:pic>
      <p:sp>
        <p:nvSpPr>
          <p:cNvPr id="32" name="Text 10"/>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33" name="Text 11"/>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34" name="Text 12"/>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35" name="Text 13"/>
          <p:cNvSpPr/>
          <p:nvPr/>
        </p:nvSpPr>
        <p:spPr>
          <a:xfrm>
            <a:off x="366713" y="785813"/>
            <a:ext cx="2205037" cy="200025"/>
          </a:xfrm>
          <a:prstGeom prst="rect">
            <a:avLst/>
          </a:prstGeom>
          <a:noFill/>
          <a:ln/>
        </p:spPr>
        <p:txBody>
          <a:bodyPr wrap="square" rtlCol="0" anchor="ctr"/>
          <a:lstStyle/>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(1)Data / (2)Features</a:t>
            </a:r>
            <a:endParaRPr lang="en-US" sz="1350" dirty="0"/>
          </a:p>
        </p:txBody>
      </p:sp>
      <p:sp>
        <p:nvSpPr>
          <p:cNvPr id="36" name="Text 14"/>
          <p:cNvSpPr/>
          <p:nvPr/>
        </p:nvSpPr>
        <p:spPr>
          <a:xfrm>
            <a:off x="2690813" y="785813"/>
            <a:ext cx="2005012" cy="200025"/>
          </a:xfrm>
          <a:prstGeom prst="rect">
            <a:avLst/>
          </a:prstGeom>
          <a:noFill/>
          <a:ln/>
        </p:spPr>
        <p:txBody>
          <a:bodyPr wrap="square" rtlCol="0" anchor="ctr"/>
          <a:lstStyle/>
          <a:p>
            <a:pPr algn="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Model/ (3) Metrics</a:t>
            </a:r>
            <a:endParaRPr lang="en-US" sz="1350" dirty="0"/>
          </a:p>
        </p:txBody>
      </p:sp>
      <p:sp>
        <p:nvSpPr>
          <p:cNvPr id="37" name="Text 15"/>
          <p:cNvSpPr/>
          <p:nvPr/>
        </p:nvSpPr>
        <p:spPr>
          <a:xfrm>
            <a:off x="4572000" y="657225"/>
            <a:ext cx="2619375" cy="400050"/>
          </a:xfrm>
          <a:prstGeom prst="rect">
            <a:avLst/>
          </a:prstGeom>
          <a:noFill/>
          <a:ln/>
        </p:spPr>
        <p:txBody>
          <a:bodyPr wrap="square" rtlCol="0" anchor="ctr"/>
          <a:lstStyle/>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Hyperparameter</a:t>
            </a:r>
            <a:endParaRPr lang="en-US" sz="1350" dirty="0"/>
          </a:p>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(4)Sampler / (5)Threshold</a:t>
            </a:r>
            <a:endParaRPr lang="en-US" sz="1350" dirty="0"/>
          </a:p>
        </p:txBody>
      </p:sp>
      <p:sp>
        <p:nvSpPr>
          <p:cNvPr id="38" name="Text 16"/>
          <p:cNvSpPr/>
          <p:nvPr/>
        </p:nvSpPr>
        <p:spPr>
          <a:xfrm>
            <a:off x="7353300" y="785813"/>
            <a:ext cx="1562100" cy="200025"/>
          </a:xfrm>
          <a:prstGeom prst="rect">
            <a:avLst/>
          </a:prstGeom>
          <a:noFill/>
          <a:ln/>
        </p:spPr>
        <p:txBody>
          <a:bodyPr wrap="square" rtlCol="0" anchor="ctr"/>
          <a:lstStyle/>
          <a:p>
            <a:pPr algn="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Final Release</a:t>
            </a:r>
            <a:endParaRPr lang="en-US" sz="1350" dirty="0"/>
          </a:p>
        </p:txBody>
      </p:sp>
      <p:sp>
        <p:nvSpPr>
          <p:cNvPr id="39" name="Text 17"/>
          <p:cNvSpPr/>
          <p:nvPr/>
        </p:nvSpPr>
        <p:spPr>
          <a:xfrm>
            <a:off x="123825" y="280988"/>
            <a:ext cx="2090737"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Workflow Overview</a:t>
            </a:r>
            <a:endParaRPr lang="en-US" sz="1350" dirty="0"/>
          </a:p>
        </p:txBody>
      </p:sp>
      <p:sp>
        <p:nvSpPr>
          <p:cNvPr id="40" name="Text 18"/>
          <p:cNvSpPr/>
          <p:nvPr/>
        </p:nvSpPr>
        <p:spPr>
          <a:xfrm>
            <a:off x="4329113" y="4491038"/>
            <a:ext cx="557213"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7</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w="12700">
            <a:solidFill>
              <a:srgbClr val="000000"/>
            </a:solidFill>
            <a:prstDash val="solid"/>
          </a:ln>
        </p:spPr>
      </p:sp>
      <p:pic>
        <p:nvPicPr>
          <p:cNvPr id="4" name="Image 0" descr="preencoded.png">    </p:cNvPr>
          <p:cNvPicPr>
            <a:picLocks noChangeAspect="1"/>
          </p:cNvPicPr>
          <p:nvPr/>
        </p:nvPicPr>
        <p:blipFill>
          <a:blip r:embed="rId1"/>
          <a:stretch>
            <a:fillRect/>
          </a:stretch>
        </p:blipFill>
        <p:spPr>
          <a:xfrm>
            <a:off x="3481388" y="1014413"/>
            <a:ext cx="800100" cy="800100"/>
          </a:xfrm>
          <a:prstGeom prst="rect">
            <a:avLst/>
          </a:prstGeom>
        </p:spPr>
      </p:pic>
      <p:pic>
        <p:nvPicPr>
          <p:cNvPr id="5" name="Image 1" descr="preencoded.png">    </p:cNvPr>
          <p:cNvPicPr>
            <a:picLocks noChangeAspect="1"/>
          </p:cNvPicPr>
          <p:nvPr/>
        </p:nvPicPr>
        <p:blipFill>
          <a:blip r:embed="rId2"/>
          <a:stretch>
            <a:fillRect/>
          </a:stretch>
        </p:blipFill>
        <p:spPr>
          <a:xfrm>
            <a:off x="3448050" y="3309938"/>
            <a:ext cx="909638" cy="909638"/>
          </a:xfrm>
          <a:prstGeom prst="rect">
            <a:avLst/>
          </a:prstGeom>
        </p:spPr>
      </p:pic>
      <p:pic>
        <p:nvPicPr>
          <p:cNvPr id="6" name="Image 2" descr="preencoded.png">    </p:cNvPr>
          <p:cNvPicPr>
            <a:picLocks noChangeAspect="1"/>
          </p:cNvPicPr>
          <p:nvPr/>
        </p:nvPicPr>
        <p:blipFill>
          <a:blip r:embed="rId3"/>
          <a:stretch>
            <a:fillRect/>
          </a:stretch>
        </p:blipFill>
        <p:spPr>
          <a:xfrm>
            <a:off x="3400425" y="2547938"/>
            <a:ext cx="77223" cy="671993"/>
          </a:xfrm>
          <a:prstGeom prst="rect">
            <a:avLst/>
          </a:prstGeom>
        </p:spPr>
      </p:pic>
      <p:pic>
        <p:nvPicPr>
          <p:cNvPr id="7" name="Image 3" descr="preencoded.png">    </p:cNvPr>
          <p:cNvPicPr>
            <a:picLocks noChangeAspect="1"/>
          </p:cNvPicPr>
          <p:nvPr/>
        </p:nvPicPr>
        <p:blipFill>
          <a:blip r:embed="rId4"/>
          <a:stretch>
            <a:fillRect/>
          </a:stretch>
        </p:blipFill>
        <p:spPr>
          <a:xfrm>
            <a:off x="3528966" y="2547938"/>
            <a:ext cx="77223" cy="671993"/>
          </a:xfrm>
          <a:prstGeom prst="rect">
            <a:avLst/>
          </a:prstGeom>
        </p:spPr>
      </p:pic>
      <p:sp>
        <p:nvSpPr>
          <p:cNvPr id="8"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9"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0"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1" name="Text 4"/>
          <p:cNvSpPr/>
          <p:nvPr/>
        </p:nvSpPr>
        <p:spPr>
          <a:xfrm>
            <a:off x="2238375" y="2738438"/>
            <a:ext cx="1538288" cy="257175"/>
          </a:xfrm>
          <a:prstGeom prst="rect">
            <a:avLst/>
          </a:prstGeom>
          <a:noFill/>
          <a:ln/>
        </p:spPr>
        <p:txBody>
          <a:bodyPr wrap="square" rtlCol="0" anchor="ctr"/>
          <a:lstStyle/>
          <a:p>
            <a:pPr algn="ctr" indent="0" marL="0">
              <a:lnSpc>
                <a:spcPts val="2025"/>
              </a:lnSpc>
              <a:buNone/>
            </a:pPr>
            <a:r>
              <a:rPr lang="en-US" sz="1350" b="1" spc="-30" kern="0" dirty="0">
                <a:solidFill>
                  <a:srgbClr val="000000">
                    <a:alpha val="99000"/>
                  </a:srgbClr>
                </a:solidFill>
                <a:latin typeface="Plus Jakarta Sans" pitchFamily="34" charset="0"/>
                <a:ea typeface="Plus Jakarta Sans" pitchFamily="34" charset="-122"/>
                <a:cs typeface="Plus Jakarta Sans" pitchFamily="34" charset="-120"/>
              </a:rPr>
              <a:t>1 : Many</a:t>
            </a:r>
            <a:endParaRPr lang="en-US" sz="1350" dirty="0"/>
          </a:p>
        </p:txBody>
      </p:sp>
      <p:sp>
        <p:nvSpPr>
          <p:cNvPr id="12" name="Text 5"/>
          <p:cNvSpPr/>
          <p:nvPr/>
        </p:nvSpPr>
        <p:spPr>
          <a:xfrm>
            <a:off x="8758238" y="4491038"/>
            <a:ext cx="5667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8</a:t>
            </a:r>
            <a:endParaRPr lang="en-US" sz="1350" dirty="0"/>
          </a:p>
        </p:txBody>
      </p:sp>
      <p:sp>
        <p:nvSpPr>
          <p:cNvPr id="13" name="Text 6"/>
          <p:cNvSpPr/>
          <p:nvPr/>
        </p:nvSpPr>
        <p:spPr>
          <a:xfrm>
            <a:off x="3400425" y="1981200"/>
            <a:ext cx="1338262" cy="257175"/>
          </a:xfrm>
          <a:prstGeom prst="rect">
            <a:avLst/>
          </a:prstGeom>
          <a:noFill/>
          <a:ln/>
        </p:spPr>
        <p:txBody>
          <a:bodyPr wrap="square" rtlCol="0" anchor="ctr"/>
          <a:lstStyle/>
          <a:p>
            <a:pPr algn="ctr"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Client</a:t>
            </a:r>
            <a:endParaRPr lang="en-US" sz="1350" dirty="0"/>
          </a:p>
        </p:txBody>
      </p:sp>
      <p:sp>
        <p:nvSpPr>
          <p:cNvPr id="14" name="Text 7"/>
          <p:cNvSpPr/>
          <p:nvPr/>
        </p:nvSpPr>
        <p:spPr>
          <a:xfrm>
            <a:off x="4657725" y="781050"/>
            <a:ext cx="33956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Client information</a:t>
            </a:r>
            <a:endParaRPr lang="en-US" sz="1500" dirty="0"/>
          </a:p>
        </p:txBody>
      </p:sp>
      <p:sp>
        <p:nvSpPr>
          <p:cNvPr id="15" name="Text 8"/>
          <p:cNvSpPr/>
          <p:nvPr/>
        </p:nvSpPr>
        <p:spPr>
          <a:xfrm>
            <a:off x="4657725" y="1104900"/>
            <a:ext cx="3890963" cy="1285875"/>
          </a:xfrm>
          <a:prstGeom prst="rect">
            <a:avLst/>
          </a:prstGeom>
          <a:noFill/>
          <a:ln/>
        </p:spPr>
        <p:txBody>
          <a:bodyPr wrap="square" rtlCol="0" anchor="ctr"/>
          <a:lstStyle/>
          <a:p>
            <a:pPr algn="l" marL="342900" indent="-342900">
              <a:lnSpc>
                <a:spcPts val="2025"/>
              </a:lnSpc>
              <a:buSzPct val="100000"/>
              <a:buChar char="•"/>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Client ID</a:t>
            </a:r>
            <a:endParaRPr lang="en-US" sz="1350" dirty="0"/>
          </a:p>
          <a:p>
            <a:pPr algn="l" marL="342900" indent="-342900">
              <a:lnSpc>
                <a:spcPts val="2025"/>
              </a:lnSpc>
              <a:buSzPct val="100000"/>
              <a:buChar char="•"/>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Client category (enterprise, low-income) </a:t>
            </a:r>
            <a:endParaRPr lang="en-US" sz="1350" dirty="0"/>
          </a:p>
          <a:p>
            <a:pPr algn="l" marL="342900" indent="-342900">
              <a:lnSpc>
                <a:spcPts val="2025"/>
              </a:lnSpc>
              <a:buSzPct val="100000"/>
              <a:buChar char="•"/>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Region </a:t>
            </a:r>
            <a:endParaRPr lang="en-US" sz="1350" dirty="0"/>
          </a:p>
          <a:p>
            <a:pPr algn="l" marL="342900" indent="-342900">
              <a:lnSpc>
                <a:spcPts val="2025"/>
              </a:lnSpc>
              <a:buSzPct val="100000"/>
              <a:buChar char="•"/>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District</a:t>
            </a:r>
            <a:endParaRPr lang="en-US" sz="1350" dirty="0"/>
          </a:p>
          <a:p>
            <a:pPr algn="l" marL="342900" indent="-342900">
              <a:lnSpc>
                <a:spcPts val="2025"/>
              </a:lnSpc>
              <a:buSzPct val="100000"/>
              <a:buChar char="•"/>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Creation date</a:t>
            </a:r>
            <a:endParaRPr lang="en-US" sz="1350" dirty="0"/>
          </a:p>
        </p:txBody>
      </p:sp>
      <p:sp>
        <p:nvSpPr>
          <p:cNvPr id="16" name="Text 9"/>
          <p:cNvSpPr/>
          <p:nvPr/>
        </p:nvSpPr>
        <p:spPr>
          <a:xfrm>
            <a:off x="3448050" y="4300538"/>
            <a:ext cx="1338262" cy="257175"/>
          </a:xfrm>
          <a:prstGeom prst="rect">
            <a:avLst/>
          </a:prstGeom>
          <a:noFill/>
          <a:ln/>
        </p:spPr>
        <p:txBody>
          <a:bodyPr wrap="square" rtlCol="0" anchor="ctr"/>
          <a:lstStyle/>
          <a:p>
            <a:pPr algn="ctr"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invoice</a:t>
            </a:r>
            <a:endParaRPr lang="en-US" sz="1350" dirty="0"/>
          </a:p>
        </p:txBody>
      </p:sp>
      <p:sp>
        <p:nvSpPr>
          <p:cNvPr id="17" name="Text 10"/>
          <p:cNvSpPr/>
          <p:nvPr/>
        </p:nvSpPr>
        <p:spPr>
          <a:xfrm>
            <a:off x="4705350" y="2881313"/>
            <a:ext cx="33956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Recurring invoices</a:t>
            </a:r>
            <a:endParaRPr lang="en-US" sz="1500" dirty="0"/>
          </a:p>
        </p:txBody>
      </p:sp>
      <p:sp>
        <p:nvSpPr>
          <p:cNvPr id="18" name="Text 11"/>
          <p:cNvSpPr/>
          <p:nvPr/>
        </p:nvSpPr>
        <p:spPr>
          <a:xfrm>
            <a:off x="4705350" y="3205163"/>
            <a:ext cx="3395663" cy="1543050"/>
          </a:xfrm>
          <a:prstGeom prst="rect">
            <a:avLst/>
          </a:prstGeom>
          <a:noFill/>
          <a:ln/>
        </p:spPr>
        <p:txBody>
          <a:bodyPr wrap="square" rtlCol="0" anchor="ctr"/>
          <a:lstStyle/>
          <a:p>
            <a:pPr algn="l" marL="342900" indent="-342900">
              <a:lnSpc>
                <a:spcPts val="2025"/>
              </a:lnSpc>
              <a:buSzPct val="100000"/>
              <a:buChar char="•"/>
            </a:pPr>
            <a:r>
              <a:rPr lang="en-US" sz="1350" spc="-30" kern="0" dirty="0">
                <a:solidFill>
                  <a:srgbClr val="000000">
                    <a:alpha val="99000"/>
                  </a:srgbClr>
                </a:solidFill>
                <a:latin typeface="Inter" pitchFamily="34" charset="0"/>
                <a:ea typeface="Inter" pitchFamily="34" charset="-122"/>
                <a:cs typeface="Inter" pitchFamily="34" charset="-120"/>
              </a:rPr>
              <a:t>Client ID </a:t>
            </a:r>
            <a:endParaRPr lang="en-US" sz="1350" dirty="0"/>
          </a:p>
          <a:p>
            <a:pPr algn="l" marL="342900" indent="-342900">
              <a:lnSpc>
                <a:spcPts val="2025"/>
              </a:lnSpc>
              <a:buSzPct val="100000"/>
              <a:buChar char="•"/>
            </a:pPr>
            <a:r>
              <a:rPr lang="en-US" sz="1350" spc="-30" kern="0" dirty="0">
                <a:solidFill>
                  <a:srgbClr val="000000">
                    <a:alpha val="99000"/>
                  </a:srgbClr>
                </a:solidFill>
                <a:latin typeface="Inter" pitchFamily="34" charset="0"/>
                <a:ea typeface="Inter" pitchFamily="34" charset="-122"/>
                <a:cs typeface="Inter" pitchFamily="34" charset="-120"/>
              </a:rPr>
              <a:t>Invoice Date</a:t>
            </a:r>
            <a:endParaRPr lang="en-US" sz="1350" dirty="0"/>
          </a:p>
          <a:p>
            <a:pPr algn="l" marL="342900" indent="-342900">
              <a:lnSpc>
                <a:spcPts val="2025"/>
              </a:lnSpc>
              <a:buSzPct val="100000"/>
              <a:buChar char="•"/>
            </a:pPr>
            <a:r>
              <a:rPr lang="en-US" sz="1350" spc="-30" kern="0" dirty="0">
                <a:solidFill>
                  <a:srgbClr val="000000">
                    <a:alpha val="99000"/>
                  </a:srgbClr>
                </a:solidFill>
                <a:latin typeface="Inter" pitchFamily="34" charset="0"/>
                <a:ea typeface="Inter" pitchFamily="34" charset="-122"/>
                <a:cs typeface="Inter" pitchFamily="34" charset="-120"/>
              </a:rPr>
              <a:t>Consumption Data</a:t>
            </a:r>
            <a:endParaRPr lang="en-US" sz="1350" dirty="0"/>
          </a:p>
          <a:p>
            <a:pPr algn="l" marL="342900" indent="-342900">
              <a:lnSpc>
                <a:spcPts val="2025"/>
              </a:lnSpc>
              <a:buSzPct val="100000"/>
              <a:buChar char="•"/>
            </a:pPr>
            <a:r>
              <a:rPr lang="en-US" sz="1350" spc="-30" kern="0" dirty="0">
                <a:solidFill>
                  <a:srgbClr val="000000">
                    <a:alpha val="99000"/>
                  </a:srgbClr>
                </a:solidFill>
                <a:latin typeface="Inter" pitchFamily="34" charset="0"/>
                <a:ea typeface="Inter" pitchFamily="34" charset="-122"/>
                <a:cs typeface="Inter" pitchFamily="34" charset="-120"/>
              </a:rPr>
              <a:t>Tarif Type</a:t>
            </a:r>
            <a:endParaRPr lang="en-US" sz="1350" dirty="0"/>
          </a:p>
          <a:p>
            <a:pPr algn="l" marL="342900" indent="-342900">
              <a:lnSpc>
                <a:spcPts val="2025"/>
              </a:lnSpc>
              <a:buSzPct val="100000"/>
              <a:buChar char="•"/>
            </a:pPr>
            <a:r>
              <a:rPr lang="en-US" sz="1350" spc="-30" kern="0" dirty="0">
                <a:solidFill>
                  <a:srgbClr val="000000">
                    <a:alpha val="99000"/>
                  </a:srgbClr>
                </a:solidFill>
                <a:latin typeface="Inter" pitchFamily="34" charset="0"/>
                <a:ea typeface="Inter" pitchFamily="34" charset="-122"/>
                <a:cs typeface="Inter" pitchFamily="34" charset="-120"/>
              </a:rPr>
              <a:t>Counter status</a:t>
            </a:r>
            <a:endParaRPr lang="en-US" sz="1350" dirty="0"/>
          </a:p>
          <a:p>
            <a:pPr algn="l" marL="342900" indent="-342900">
              <a:lnSpc>
                <a:spcPts val="2025"/>
              </a:lnSpc>
              <a:buSzPct val="100000"/>
              <a:buChar char="•"/>
            </a:pPr>
            <a:r>
              <a:rPr lang="en-US" sz="1350" spc="-30" kern="0" dirty="0">
                <a:solidFill>
                  <a:srgbClr val="000000">
                    <a:alpha val="99000"/>
                  </a:srgbClr>
                </a:solidFill>
                <a:latin typeface="Inter" pitchFamily="34" charset="0"/>
                <a:ea typeface="Inter" pitchFamily="34" charset="-122"/>
                <a:cs typeface="Inter" pitchFamily="34" charset="-120"/>
              </a:rPr>
              <a:t>etc.</a:t>
            </a:r>
            <a:endParaRPr lang="en-US" sz="1350" dirty="0"/>
          </a:p>
        </p:txBody>
      </p:sp>
      <p:sp>
        <p:nvSpPr>
          <p:cNvPr id="19" name="Text 12"/>
          <p:cNvSpPr/>
          <p:nvPr/>
        </p:nvSpPr>
        <p:spPr>
          <a:xfrm>
            <a:off x="376238" y="595313"/>
            <a:ext cx="2300288"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(1) Our data</a:t>
            </a:r>
            <a:endParaRPr lang="en-US" sz="26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w="12700">
            <a:solidFill>
              <a:srgbClr val="000000"/>
            </a:solidFill>
            <a:prstDash val="solid"/>
          </a:ln>
        </p:spPr>
      </p:sp>
      <p:sp>
        <p:nvSpPr>
          <p:cNvPr id="4" name="Text 1"/>
          <p:cNvSpPr/>
          <p:nvPr/>
        </p:nvSpPr>
        <p:spPr>
          <a:xfrm>
            <a:off x="5719763" y="2343150"/>
            <a:ext cx="952500" cy="662066"/>
          </a:xfrm>
          <a:prstGeom prst="leftArrow">
            <a:avLst/>
          </a:prstGeom>
          <a:solidFill>
            <a:srgbClr val="757575"/>
          </a:solidFill>
          <a:ln w="12700">
            <a:solidFill>
              <a:srgbClr val="757575"/>
            </a:solidFill>
          </a:ln>
        </p:spPr>
        <p:txBody>
          <a:bodyPr wrap="square" rtlCol="0" anchor="ctr"/>
          <a:lstStyle/>
          <a:p>
            <a:pPr indent="0" marL="0">
              <a:buNone/>
            </a:pPr>
            <a:endParaRPr lang="en-US" dirty="0"/>
          </a:p>
        </p:txBody>
      </p:sp>
      <p:sp>
        <p:nvSpPr>
          <p:cNvPr id="5" name="Text 2"/>
          <p:cNvSpPr/>
          <p:nvPr/>
        </p:nvSpPr>
        <p:spPr>
          <a:xfrm rot="10800000">
            <a:off x="1485900" y="2309813"/>
            <a:ext cx="952500" cy="662066"/>
          </a:xfrm>
          <a:prstGeom prst="leftArrow">
            <a:avLst/>
          </a:prstGeom>
          <a:solidFill>
            <a:srgbClr val="757575"/>
          </a:solidFill>
          <a:ln w="12700">
            <a:solidFill>
              <a:srgbClr val="757575"/>
            </a:solidFill>
          </a:ln>
        </p:spPr>
        <p:txBody>
          <a:bodyPr wrap="square" rtlCol="0" anchor="ctr"/>
          <a:lstStyle/>
          <a:p>
            <a:pPr indent="0" marL="0">
              <a:buNone/>
            </a:pPr>
            <a:endParaRPr lang="en-US" dirty="0"/>
          </a:p>
        </p:txBody>
      </p:sp>
      <p:pic>
        <p:nvPicPr>
          <p:cNvPr id="6" name="Image 0" descr="preencoded.png">    </p:cNvPr>
          <p:cNvPicPr>
            <a:picLocks noChangeAspect="1"/>
          </p:cNvPicPr>
          <p:nvPr/>
        </p:nvPicPr>
        <p:blipFill>
          <a:blip r:embed="rId1"/>
          <a:stretch>
            <a:fillRect/>
          </a:stretch>
        </p:blipFill>
        <p:spPr>
          <a:xfrm>
            <a:off x="2581275" y="1447800"/>
            <a:ext cx="3043238" cy="3605213"/>
          </a:xfrm>
          <a:prstGeom prst="rect">
            <a:avLst/>
          </a:prstGeom>
        </p:spPr>
      </p:pic>
      <p:sp>
        <p:nvSpPr>
          <p:cNvPr id="7" name="Text 3"/>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8" name="Text 4"/>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9" name="Text 5"/>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0" name="Text 6"/>
          <p:cNvSpPr/>
          <p:nvPr/>
        </p:nvSpPr>
        <p:spPr>
          <a:xfrm>
            <a:off x="309563" y="2290763"/>
            <a:ext cx="1538288" cy="771525"/>
          </a:xfrm>
          <a:prstGeom prst="rect">
            <a:avLst/>
          </a:prstGeom>
          <a:noFill/>
          <a:ln/>
        </p:spPr>
        <p:txBody>
          <a:bodyPr wrap="square" rtlCol="0" anchor="ctr"/>
          <a:lstStyle/>
          <a:p>
            <a:pPr algn="ctr"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many aggregated features</a:t>
            </a:r>
            <a:endParaRPr lang="en-US" sz="1350" dirty="0"/>
          </a:p>
        </p:txBody>
      </p:sp>
      <p:sp>
        <p:nvSpPr>
          <p:cNvPr id="11" name="Text 7"/>
          <p:cNvSpPr/>
          <p:nvPr/>
        </p:nvSpPr>
        <p:spPr>
          <a:xfrm>
            <a:off x="6843713" y="2290763"/>
            <a:ext cx="2471738" cy="102870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How to select  what’s really relevant :</a:t>
            </a:r>
            <a:endParaRPr lang="en-US" sz="1350" dirty="0"/>
          </a:p>
          <a:p>
            <a:pPr algn="l"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 </a:t>
            </a:r>
            <a:pPr algn="l" indent="0" marL="0">
              <a:lnSpc>
                <a:spcPts val="2025"/>
              </a:lnSpc>
              <a:buNone/>
            </a:pPr>
            <a:r>
              <a:rPr lang="en-US" sz="1350" b="1" spc="-30" kern="0" dirty="0">
                <a:solidFill>
                  <a:srgbClr val="000000">
                    <a:alpha val="99000"/>
                  </a:srgbClr>
                </a:solidFill>
                <a:latin typeface="Plus Jakarta Sans" pitchFamily="34" charset="0"/>
                <a:ea typeface="Plus Jakarta Sans" pitchFamily="34" charset="-122"/>
                <a:cs typeface="Plus Jakarta Sans" pitchFamily="34" charset="-120"/>
              </a:rPr>
              <a:t>Mutual Information Score</a:t>
            </a:r>
            <a:endParaRPr lang="en-US" sz="1350" dirty="0"/>
          </a:p>
        </p:txBody>
      </p:sp>
      <p:sp>
        <p:nvSpPr>
          <p:cNvPr id="12" name="Text 8"/>
          <p:cNvSpPr/>
          <p:nvPr/>
        </p:nvSpPr>
        <p:spPr>
          <a:xfrm>
            <a:off x="8758238" y="4491038"/>
            <a:ext cx="5667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9</a:t>
            </a:r>
            <a:endParaRPr lang="en-US" sz="1350" dirty="0"/>
          </a:p>
        </p:txBody>
      </p:sp>
      <p:sp>
        <p:nvSpPr>
          <p:cNvPr id="13" name="Text 9"/>
          <p:cNvSpPr/>
          <p:nvPr/>
        </p:nvSpPr>
        <p:spPr>
          <a:xfrm>
            <a:off x="376238" y="595313"/>
            <a:ext cx="6386513"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(2) +50 new features</a:t>
            </a:r>
            <a:endParaRPr lang="en-US" sz="26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9"/>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962025" y="1000125"/>
            <a:ext cx="6672263" cy="4143375"/>
          </a:xfrm>
          <a:prstGeom prst="rect">
            <a:avLst/>
          </a:prstGeom>
        </p:spPr>
      </p:pic>
      <p:sp>
        <p:nvSpPr>
          <p:cNvPr id="4" name="Text 0"/>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5" name="Text 1"/>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6" name="Text 2"/>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7" name="Text 3"/>
          <p:cNvSpPr/>
          <p:nvPr/>
        </p:nvSpPr>
        <p:spPr>
          <a:xfrm>
            <a:off x="285750" y="452438"/>
            <a:ext cx="6910388"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(2) Feature evaluation: Mutual Info (Top 10)</a:t>
            </a:r>
            <a:endParaRPr lang="en-US" sz="2625" dirty="0"/>
          </a:p>
        </p:txBody>
      </p:sp>
      <p:sp>
        <p:nvSpPr>
          <p:cNvPr id="8" name="Text 4"/>
          <p:cNvSpPr/>
          <p:nvPr/>
        </p:nvSpPr>
        <p:spPr>
          <a:xfrm>
            <a:off x="8758238" y="4491038"/>
            <a:ext cx="6429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10</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276225" y="2133600"/>
            <a:ext cx="7991475" cy="0"/>
          </a:xfrm>
          <a:prstGeom prst="line">
            <a:avLst/>
          </a:prstGeom>
          <a:noFill/>
          <a:ln w="50800">
            <a:solidFill>
              <a:srgbClr val="000000"/>
            </a:solidFill>
            <a:prstDash val="solid"/>
          </a:ln>
        </p:spPr>
      </p:sp>
      <p:sp>
        <p:nvSpPr>
          <p:cNvPr id="3" name="Shape 1"/>
          <p:cNvSpPr/>
          <p:nvPr/>
        </p:nvSpPr>
        <p:spPr>
          <a:xfrm>
            <a:off x="619125" y="1414463"/>
            <a:ext cx="190500" cy="190500"/>
          </a:xfrm>
          <a:prstGeom prst="rect">
            <a:avLst/>
          </a:prstGeom>
          <a:noFill/>
          <a:ln/>
        </p:spPr>
      </p:sp>
      <p:sp>
        <p:nvSpPr>
          <p:cNvPr id="4" name="Shape 2"/>
          <p:cNvSpPr/>
          <p:nvPr/>
        </p:nvSpPr>
        <p:spPr>
          <a:xfrm>
            <a:off x="619125" y="1414463"/>
            <a:ext cx="190500" cy="190500"/>
          </a:xfrm>
          <a:prstGeom prst="roundRect">
            <a:avLst/>
          </a:prstGeom>
          <a:solidFill>
            <a:srgbClr val="000000"/>
          </a:solidFill>
          <a:ln/>
        </p:spPr>
      </p:sp>
      <p:sp>
        <p:nvSpPr>
          <p:cNvPr id="5" name="Shape 3"/>
          <p:cNvSpPr/>
          <p:nvPr/>
        </p:nvSpPr>
        <p:spPr>
          <a:xfrm>
            <a:off x="619125" y="3352800"/>
            <a:ext cx="190500" cy="190500"/>
          </a:xfrm>
          <a:prstGeom prst="rect">
            <a:avLst/>
          </a:prstGeom>
          <a:noFill/>
          <a:ln/>
        </p:spPr>
      </p:sp>
      <p:sp>
        <p:nvSpPr>
          <p:cNvPr id="6" name="Shape 4"/>
          <p:cNvSpPr/>
          <p:nvPr/>
        </p:nvSpPr>
        <p:spPr>
          <a:xfrm>
            <a:off x="619125" y="3352800"/>
            <a:ext cx="190500" cy="190500"/>
          </a:xfrm>
          <a:prstGeom prst="roundRect">
            <a:avLst/>
          </a:prstGeom>
          <a:solidFill>
            <a:srgbClr val="000000"/>
          </a:solidFill>
          <a:ln/>
        </p:spPr>
      </p:sp>
      <p:sp>
        <p:nvSpPr>
          <p:cNvPr id="7" name="Shape 5"/>
          <p:cNvSpPr/>
          <p:nvPr/>
        </p:nvSpPr>
        <p:spPr>
          <a:xfrm>
            <a:off x="619125" y="2405063"/>
            <a:ext cx="190500" cy="190500"/>
          </a:xfrm>
          <a:prstGeom prst="rect">
            <a:avLst/>
          </a:prstGeom>
          <a:noFill/>
          <a:ln/>
        </p:spPr>
      </p:sp>
      <p:sp>
        <p:nvSpPr>
          <p:cNvPr id="8" name="Shape 6"/>
          <p:cNvSpPr/>
          <p:nvPr/>
        </p:nvSpPr>
        <p:spPr>
          <a:xfrm>
            <a:off x="619125" y="2405063"/>
            <a:ext cx="190500" cy="190500"/>
          </a:xfrm>
          <a:prstGeom prst="roundRect">
            <a:avLst/>
          </a:prstGeom>
          <a:solidFill>
            <a:srgbClr val="000000"/>
          </a:solidFill>
          <a:ln/>
        </p:spPr>
      </p:sp>
      <p:sp>
        <p:nvSpPr>
          <p:cNvPr id="9" name="Shape 7"/>
          <p:cNvSpPr/>
          <p:nvPr/>
        </p:nvSpPr>
        <p:spPr>
          <a:xfrm>
            <a:off x="619125" y="4300538"/>
            <a:ext cx="190500" cy="190500"/>
          </a:xfrm>
          <a:prstGeom prst="rect">
            <a:avLst/>
          </a:prstGeom>
          <a:noFill/>
          <a:ln/>
        </p:spPr>
      </p:sp>
      <p:sp>
        <p:nvSpPr>
          <p:cNvPr id="10" name="Shape 8"/>
          <p:cNvSpPr/>
          <p:nvPr/>
        </p:nvSpPr>
        <p:spPr>
          <a:xfrm>
            <a:off x="619125" y="4300538"/>
            <a:ext cx="190500" cy="190500"/>
          </a:xfrm>
          <a:prstGeom prst="roundRect">
            <a:avLst/>
          </a:prstGeom>
          <a:solidFill>
            <a:srgbClr val="000000"/>
          </a:solidFill>
          <a:ln/>
        </p:spPr>
      </p:sp>
      <p:sp>
        <p:nvSpPr>
          <p:cNvPr id="11" name="Text 9"/>
          <p:cNvSpPr/>
          <p:nvPr/>
        </p:nvSpPr>
        <p:spPr>
          <a:xfrm>
            <a:off x="447675" y="638175"/>
            <a:ext cx="6515100"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(3) Evaluation Metrics</a:t>
            </a:r>
            <a:endParaRPr lang="en-US" sz="2625" dirty="0"/>
          </a:p>
        </p:txBody>
      </p:sp>
      <p:sp>
        <p:nvSpPr>
          <p:cNvPr id="12" name="Text 10"/>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3" name="Text 11"/>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4" name="Text 12"/>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5" name="Text 13"/>
          <p:cNvSpPr/>
          <p:nvPr/>
        </p:nvSpPr>
        <p:spPr>
          <a:xfrm>
            <a:off x="8763000" y="4491038"/>
            <a:ext cx="614363"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11</a:t>
            </a:r>
            <a:endParaRPr lang="en-US" sz="1350" dirty="0"/>
          </a:p>
        </p:txBody>
      </p:sp>
      <p:sp>
        <p:nvSpPr>
          <p:cNvPr id="16" name="Text 14"/>
          <p:cNvSpPr/>
          <p:nvPr/>
        </p:nvSpPr>
        <p:spPr>
          <a:xfrm>
            <a:off x="990600" y="1366838"/>
            <a:ext cx="2124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CONCLUSION</a:t>
            </a:r>
            <a:endParaRPr lang="en-US" sz="1500" dirty="0"/>
          </a:p>
        </p:txBody>
      </p:sp>
      <p:sp>
        <p:nvSpPr>
          <p:cNvPr id="17" name="Text 15"/>
          <p:cNvSpPr/>
          <p:nvPr/>
        </p:nvSpPr>
        <p:spPr>
          <a:xfrm>
            <a:off x="990600" y="1652588"/>
            <a:ext cx="161448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 </a:t>
            </a:r>
            <a:pPr algn="l" indent="0" marL="0">
              <a:lnSpc>
                <a:spcPts val="2025"/>
              </a:lnSpc>
              <a:buNone/>
            </a:pPr>
            <a:r>
              <a:rPr lang="en-US" sz="1350" u="sng" spc="-30" kern="0" dirty="0">
                <a:solidFill>
                  <a:srgbClr val="000000">
                    <a:alpha val="99000"/>
                  </a:srgbClr>
                </a:solidFill>
                <a:latin typeface="Inter" pitchFamily="34" charset="0"/>
                <a:ea typeface="Inter" pitchFamily="34" charset="-122"/>
                <a:cs typeface="Inter" pitchFamily="34" charset="-120"/>
              </a:rPr>
              <a:t>High F1 </a:t>
            </a:r>
            <a:endParaRPr lang="en-US" sz="1350" dirty="0"/>
          </a:p>
        </p:txBody>
      </p:sp>
      <p:sp>
        <p:nvSpPr>
          <p:cNvPr id="18" name="Text 16"/>
          <p:cNvSpPr/>
          <p:nvPr/>
        </p:nvSpPr>
        <p:spPr>
          <a:xfrm>
            <a:off x="2371725" y="1652588"/>
            <a:ext cx="35004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 Balanced performance</a:t>
            </a:r>
            <a:endParaRPr lang="en-US" sz="1350" dirty="0"/>
          </a:p>
        </p:txBody>
      </p:sp>
      <p:sp>
        <p:nvSpPr>
          <p:cNvPr id="19" name="Text 17"/>
          <p:cNvSpPr/>
          <p:nvPr/>
        </p:nvSpPr>
        <p:spPr>
          <a:xfrm>
            <a:off x="990600" y="3305175"/>
            <a:ext cx="2124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RECALL</a:t>
            </a:r>
            <a:endParaRPr lang="en-US" sz="1500" dirty="0"/>
          </a:p>
        </p:txBody>
      </p:sp>
      <p:sp>
        <p:nvSpPr>
          <p:cNvPr id="20" name="Text 18"/>
          <p:cNvSpPr/>
          <p:nvPr/>
        </p:nvSpPr>
        <p:spPr>
          <a:xfrm>
            <a:off x="990600" y="3590925"/>
            <a:ext cx="7577137"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Measures how many of the </a:t>
            </a:r>
            <a:pPr algn="l" indent="0" marL="0">
              <a:lnSpc>
                <a:spcPts val="2025"/>
              </a:lnSpc>
              <a:buNone/>
            </a:pPr>
            <a:r>
              <a:rPr lang="en-US" sz="1350" b="1" spc="-30" kern="0" dirty="0">
                <a:solidFill>
                  <a:srgbClr val="000000">
                    <a:alpha val="99000"/>
                  </a:srgbClr>
                </a:solidFill>
                <a:latin typeface="Inter" pitchFamily="34" charset="0"/>
                <a:ea typeface="Inter" pitchFamily="34" charset="-122"/>
                <a:cs typeface="Inter" pitchFamily="34" charset="-120"/>
              </a:rPr>
              <a:t>actual positive</a:t>
            </a:r>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 cases were correctly identified.</a:t>
            </a:r>
            <a:endParaRPr lang="en-US" sz="1350" dirty="0"/>
          </a:p>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High Recall → Few missed fraud cases </a:t>
            </a:r>
            <a:endParaRPr lang="en-US" sz="1350" dirty="0"/>
          </a:p>
        </p:txBody>
      </p:sp>
      <p:sp>
        <p:nvSpPr>
          <p:cNvPr id="21" name="Text 19"/>
          <p:cNvSpPr/>
          <p:nvPr/>
        </p:nvSpPr>
        <p:spPr>
          <a:xfrm>
            <a:off x="990600" y="2357438"/>
            <a:ext cx="2124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PRECISION</a:t>
            </a:r>
            <a:endParaRPr lang="en-US" sz="1500" dirty="0"/>
          </a:p>
        </p:txBody>
      </p:sp>
      <p:sp>
        <p:nvSpPr>
          <p:cNvPr id="22" name="Text 20"/>
          <p:cNvSpPr/>
          <p:nvPr/>
        </p:nvSpPr>
        <p:spPr>
          <a:xfrm>
            <a:off x="990600" y="2643188"/>
            <a:ext cx="7577137"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Measures how many of the </a:t>
            </a:r>
            <a:pPr algn="l" indent="0" marL="0">
              <a:lnSpc>
                <a:spcPts val="2025"/>
              </a:lnSpc>
              <a:buNone/>
            </a:pPr>
            <a:r>
              <a:rPr lang="en-US" sz="1350" b="1" spc="-30" kern="0" dirty="0">
                <a:solidFill>
                  <a:srgbClr val="000000">
                    <a:alpha val="99000"/>
                  </a:srgbClr>
                </a:solidFill>
                <a:latin typeface="Inter" pitchFamily="34" charset="0"/>
                <a:ea typeface="Inter" pitchFamily="34" charset="-122"/>
                <a:cs typeface="Inter" pitchFamily="34" charset="-120"/>
              </a:rPr>
              <a:t>predicted positive</a:t>
            </a:r>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 cases were actually correct.</a:t>
            </a:r>
            <a:endParaRPr lang="en-US" sz="1350" dirty="0"/>
          </a:p>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High Precision → Few false alarms</a:t>
            </a:r>
            <a:endParaRPr lang="en-US" sz="1350" dirty="0"/>
          </a:p>
        </p:txBody>
      </p:sp>
      <p:sp>
        <p:nvSpPr>
          <p:cNvPr id="23" name="Text 21"/>
          <p:cNvSpPr/>
          <p:nvPr/>
        </p:nvSpPr>
        <p:spPr>
          <a:xfrm>
            <a:off x="990600" y="4252913"/>
            <a:ext cx="2124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F1-SCORE</a:t>
            </a:r>
            <a:endParaRPr lang="en-US" sz="1500" dirty="0"/>
          </a:p>
        </p:txBody>
      </p:sp>
      <p:sp>
        <p:nvSpPr>
          <p:cNvPr id="24" name="Text 22"/>
          <p:cNvSpPr/>
          <p:nvPr/>
        </p:nvSpPr>
        <p:spPr>
          <a:xfrm>
            <a:off x="990600" y="4538663"/>
            <a:ext cx="7577137"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The harmonic mean of Precision and Recall.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w="12700">
            <a:solidFill>
              <a:srgbClr val="000000"/>
            </a:solidFill>
            <a:prstDash val="solid"/>
          </a:ln>
        </p:spPr>
      </p:sp>
      <p:sp>
        <p:nvSpPr>
          <p:cNvPr id="4" name="Text 1"/>
          <p:cNvSpPr/>
          <p:nvPr/>
        </p:nvSpPr>
        <p:spPr>
          <a:xfrm>
            <a:off x="447675" y="638175"/>
            <a:ext cx="6748463"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Baseline Model - Logistic Regression </a:t>
            </a:r>
            <a:endParaRPr lang="en-US" sz="2625" dirty="0"/>
          </a:p>
        </p:txBody>
      </p:sp>
      <p:sp>
        <p:nvSpPr>
          <p:cNvPr id="5" name="Text 2"/>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6" name="Text 3"/>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7" name="Text 4"/>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8" name="Text 5"/>
          <p:cNvSpPr/>
          <p:nvPr/>
        </p:nvSpPr>
        <p:spPr>
          <a:xfrm>
            <a:off x="8758238" y="4491038"/>
            <a:ext cx="638175"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12</a:t>
            </a:r>
            <a:endParaRPr lang="en-US" sz="1350" dirty="0"/>
          </a:p>
        </p:txBody>
      </p:sp>
      <p:sp>
        <p:nvSpPr>
          <p:cNvPr id="9" name="Text 6"/>
          <p:cNvSpPr/>
          <p:nvPr/>
        </p:nvSpPr>
        <p:spPr>
          <a:xfrm>
            <a:off x="4748213" y="2914650"/>
            <a:ext cx="3686175" cy="785813"/>
          </a:xfrm>
          <a:prstGeom prst="rect">
            <a:avLst/>
          </a:prstGeom>
          <a:noFill/>
          <a:ln/>
        </p:spPr>
        <p:txBody>
          <a:bodyPr wrap="square" rtlCol="0" anchor="ctr"/>
          <a:lstStyle/>
          <a:p>
            <a:pPr algn="ctr"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0.19</a:t>
            </a:r>
            <a:endParaRPr lang="en-US" sz="5625" dirty="0"/>
          </a:p>
        </p:txBody>
      </p:sp>
      <p:sp>
        <p:nvSpPr>
          <p:cNvPr id="10" name="Text 7"/>
          <p:cNvSpPr/>
          <p:nvPr/>
        </p:nvSpPr>
        <p:spPr>
          <a:xfrm>
            <a:off x="4748213" y="1995487"/>
            <a:ext cx="3686175"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0.79</a:t>
            </a:r>
            <a:endParaRPr lang="en-US" sz="5625" dirty="0"/>
          </a:p>
        </p:txBody>
      </p:sp>
      <p:sp>
        <p:nvSpPr>
          <p:cNvPr id="11" name="Text 8"/>
          <p:cNvSpPr/>
          <p:nvPr/>
        </p:nvSpPr>
        <p:spPr>
          <a:xfrm>
            <a:off x="4748213" y="3748087"/>
            <a:ext cx="3686175" cy="285750"/>
          </a:xfrm>
          <a:prstGeom prst="rect">
            <a:avLst/>
          </a:prstGeom>
          <a:noFill/>
          <a:ln/>
        </p:spPr>
        <p:txBody>
          <a:bodyPr wrap="square" rtlCol="0" anchor="ctr"/>
          <a:lstStyle/>
          <a:p>
            <a:pPr algn="ctr"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F1-score</a:t>
            </a:r>
            <a:endParaRPr lang="en-US" sz="1500" dirty="0"/>
          </a:p>
        </p:txBody>
      </p:sp>
      <p:sp>
        <p:nvSpPr>
          <p:cNvPr id="12" name="Text 9"/>
          <p:cNvSpPr/>
          <p:nvPr/>
        </p:nvSpPr>
        <p:spPr>
          <a:xfrm>
            <a:off x="2657475" y="2914650"/>
            <a:ext cx="3686175" cy="785813"/>
          </a:xfrm>
          <a:prstGeom prst="rect">
            <a:avLst/>
          </a:prstGeom>
          <a:noFill/>
          <a:ln/>
        </p:spPr>
        <p:txBody>
          <a:bodyPr wrap="square" rtlCol="0" anchor="ctr"/>
          <a:lstStyle/>
          <a:p>
            <a:pPr algn="ctr"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0.11</a:t>
            </a:r>
            <a:endParaRPr lang="en-US" sz="5625" dirty="0"/>
          </a:p>
        </p:txBody>
      </p:sp>
      <p:sp>
        <p:nvSpPr>
          <p:cNvPr id="13" name="Text 10"/>
          <p:cNvSpPr/>
          <p:nvPr/>
        </p:nvSpPr>
        <p:spPr>
          <a:xfrm>
            <a:off x="2657475" y="1995487"/>
            <a:ext cx="3686175"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0.97</a:t>
            </a:r>
            <a:endParaRPr lang="en-US" sz="5625" dirty="0"/>
          </a:p>
        </p:txBody>
      </p:sp>
      <p:sp>
        <p:nvSpPr>
          <p:cNvPr id="14" name="Text 11"/>
          <p:cNvSpPr/>
          <p:nvPr/>
        </p:nvSpPr>
        <p:spPr>
          <a:xfrm>
            <a:off x="2657475" y="3748087"/>
            <a:ext cx="3686175" cy="285750"/>
          </a:xfrm>
          <a:prstGeom prst="rect">
            <a:avLst/>
          </a:prstGeom>
          <a:noFill/>
          <a:ln/>
        </p:spPr>
        <p:txBody>
          <a:bodyPr wrap="square" rtlCol="0" anchor="ctr"/>
          <a:lstStyle/>
          <a:p>
            <a:pPr algn="ctr"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Precision</a:t>
            </a:r>
            <a:endParaRPr lang="en-US" sz="1500" dirty="0"/>
          </a:p>
        </p:txBody>
      </p:sp>
      <p:sp>
        <p:nvSpPr>
          <p:cNvPr id="15" name="Text 12"/>
          <p:cNvSpPr/>
          <p:nvPr/>
        </p:nvSpPr>
        <p:spPr>
          <a:xfrm>
            <a:off x="1914525" y="2900363"/>
            <a:ext cx="1300163"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1</a:t>
            </a:r>
            <a:endParaRPr lang="en-US" sz="5625" dirty="0"/>
          </a:p>
        </p:txBody>
      </p:sp>
      <p:sp>
        <p:nvSpPr>
          <p:cNvPr id="16" name="Text 13"/>
          <p:cNvSpPr/>
          <p:nvPr/>
        </p:nvSpPr>
        <p:spPr>
          <a:xfrm>
            <a:off x="1914525" y="1995487"/>
            <a:ext cx="1300163" cy="785813"/>
          </a:xfrm>
          <a:prstGeom prst="rect">
            <a:avLst/>
          </a:prstGeom>
          <a:noFill/>
          <a:ln/>
        </p:spPr>
        <p:txBody>
          <a:bodyPr wrap="square" rtlCol="0" anchor="ctr"/>
          <a:lstStyle/>
          <a:p>
            <a:pPr algn="ctr" indent="0" marL="0">
              <a:lnSpc>
                <a:spcPts val="6188"/>
              </a:lnSpc>
              <a:buNone/>
            </a:pPr>
            <a:r>
              <a:rPr lang="en-US" sz="5625" dirty="0">
                <a:solidFill>
                  <a:srgbClr val="000000">
                    <a:alpha val="99000"/>
                  </a:srgbClr>
                </a:solidFill>
                <a:latin typeface="Plus Jakarta Sans" pitchFamily="34" charset="0"/>
                <a:ea typeface="Plus Jakarta Sans" pitchFamily="34" charset="-122"/>
                <a:cs typeface="Plus Jakarta Sans" pitchFamily="34" charset="-120"/>
              </a:rPr>
              <a:t>0</a:t>
            </a:r>
            <a:endParaRPr lang="en-US" sz="56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1533525" y="1323975"/>
            <a:ext cx="6076950" cy="3430212"/>
          </a:xfrm>
          <a:prstGeom prst="rect">
            <a:avLst/>
          </a:prstGeom>
        </p:spPr>
      </p:pic>
      <p:sp>
        <p:nvSpPr>
          <p:cNvPr id="4"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5"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6"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7" name="Text 4"/>
          <p:cNvSpPr/>
          <p:nvPr/>
        </p:nvSpPr>
        <p:spPr>
          <a:xfrm>
            <a:off x="8758238" y="4491038"/>
            <a:ext cx="6429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13</a:t>
            </a:r>
            <a:endParaRPr lang="en-US" sz="1350" dirty="0"/>
          </a:p>
        </p:txBody>
      </p:sp>
      <p:sp>
        <p:nvSpPr>
          <p:cNvPr id="8" name="Text 5"/>
          <p:cNvSpPr/>
          <p:nvPr/>
        </p:nvSpPr>
        <p:spPr>
          <a:xfrm>
            <a:off x="376238" y="595313"/>
            <a:ext cx="6386513"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because our target is </a:t>
            </a:r>
            <a:pPr algn="l" indent="0" marL="0">
              <a:lnSpc>
                <a:spcPts val="2888"/>
              </a:lnSpc>
              <a:buNone/>
            </a:pPr>
            <a:r>
              <a:rPr lang="en-US" sz="2625" b="1" spc="-58" kern="0" dirty="0">
                <a:solidFill>
                  <a:srgbClr val="000000">
                    <a:alpha val="99000"/>
                  </a:srgbClr>
                </a:solidFill>
                <a:latin typeface="Plus Jakarta Sans" pitchFamily="34" charset="0"/>
                <a:ea typeface="Plus Jakarta Sans" pitchFamily="34" charset="-122"/>
                <a:cs typeface="Plus Jakarta Sans" pitchFamily="34" charset="-120"/>
              </a:rPr>
              <a:t>imbalanced </a:t>
            </a:r>
            <a:endParaRPr lang="en-US" sz="26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128588" y="795338"/>
            <a:ext cx="2221735" cy="4191000"/>
          </a:xfrm>
          <a:prstGeom prst="rect">
            <a:avLst/>
          </a:prstGeom>
          <a:solidFill>
            <a:srgbClr val="E498FF">
              <a:alpha val="40000"/>
            </a:srgbClr>
          </a:solidFill>
          <a:ln/>
        </p:spPr>
      </p:sp>
      <p:sp>
        <p:nvSpPr>
          <p:cNvPr id="3" name="Shape 1"/>
          <p:cNvSpPr/>
          <p:nvPr/>
        </p:nvSpPr>
        <p:spPr>
          <a:xfrm>
            <a:off x="2350322" y="795338"/>
            <a:ext cx="2171700" cy="4191000"/>
          </a:xfrm>
          <a:prstGeom prst="rect">
            <a:avLst/>
          </a:prstGeom>
          <a:solidFill>
            <a:srgbClr val="817DFF">
              <a:alpha val="20000"/>
            </a:srgbClr>
          </a:solidFill>
          <a:ln/>
        </p:spPr>
      </p:sp>
      <p:sp>
        <p:nvSpPr>
          <p:cNvPr id="4" name="Shape 2"/>
          <p:cNvSpPr/>
          <p:nvPr/>
        </p:nvSpPr>
        <p:spPr>
          <a:xfrm>
            <a:off x="4522077" y="795338"/>
            <a:ext cx="2271713" cy="4191000"/>
          </a:xfrm>
          <a:prstGeom prst="rect">
            <a:avLst/>
          </a:prstGeom>
          <a:solidFill>
            <a:srgbClr val="2298FF">
              <a:alpha val="40000"/>
            </a:srgbClr>
          </a:solidFill>
          <a:ln/>
        </p:spPr>
      </p:sp>
      <p:sp>
        <p:nvSpPr>
          <p:cNvPr id="5" name="Shape 3"/>
          <p:cNvSpPr/>
          <p:nvPr/>
        </p:nvSpPr>
        <p:spPr>
          <a:xfrm>
            <a:off x="6793790" y="795338"/>
            <a:ext cx="2257425" cy="4191000"/>
          </a:xfrm>
          <a:prstGeom prst="rect">
            <a:avLst/>
          </a:prstGeom>
          <a:solidFill>
            <a:srgbClr val="817DFF">
              <a:alpha val="20000"/>
            </a:srgbClr>
          </a:solidFill>
          <a:ln/>
        </p:spPr>
      </p:sp>
      <p:sp>
        <p:nvSpPr>
          <p:cNvPr id="6" name="Shape 4"/>
          <p:cNvSpPr/>
          <p:nvPr/>
        </p:nvSpPr>
        <p:spPr>
          <a:xfrm>
            <a:off x="128588" y="576263"/>
            <a:ext cx="2224088" cy="623888"/>
          </a:xfrm>
          <a:prstGeom prst="rect">
            <a:avLst/>
          </a:prstGeom>
          <a:solidFill>
            <a:srgbClr val="E498FF"/>
          </a:solidFill>
          <a:ln/>
        </p:spPr>
      </p:sp>
      <p:sp>
        <p:nvSpPr>
          <p:cNvPr id="7" name="Shape 5"/>
          <p:cNvSpPr/>
          <p:nvPr/>
        </p:nvSpPr>
        <p:spPr>
          <a:xfrm>
            <a:off x="2352675" y="576263"/>
            <a:ext cx="2171700" cy="623888"/>
          </a:xfrm>
          <a:prstGeom prst="rect">
            <a:avLst/>
          </a:prstGeom>
          <a:solidFill>
            <a:srgbClr val="9592FF"/>
          </a:solidFill>
          <a:ln/>
        </p:spPr>
      </p:sp>
      <p:sp>
        <p:nvSpPr>
          <p:cNvPr id="8" name="Shape 6"/>
          <p:cNvSpPr/>
          <p:nvPr/>
        </p:nvSpPr>
        <p:spPr>
          <a:xfrm>
            <a:off x="4524375" y="576263"/>
            <a:ext cx="2271713" cy="628650"/>
          </a:xfrm>
          <a:prstGeom prst="rect">
            <a:avLst/>
          </a:prstGeom>
          <a:solidFill>
            <a:srgbClr val="5EB4FF"/>
          </a:solidFill>
          <a:ln/>
        </p:spPr>
      </p:sp>
      <p:sp>
        <p:nvSpPr>
          <p:cNvPr id="9" name="Shape 7"/>
          <p:cNvSpPr/>
          <p:nvPr/>
        </p:nvSpPr>
        <p:spPr>
          <a:xfrm>
            <a:off x="6796088" y="576263"/>
            <a:ext cx="2257425" cy="623888"/>
          </a:xfrm>
          <a:prstGeom prst="rect">
            <a:avLst/>
          </a:prstGeom>
          <a:solidFill>
            <a:srgbClr val="9592FF"/>
          </a:solidFill>
          <a:ln/>
        </p:spPr>
      </p:sp>
      <p:sp>
        <p:nvSpPr>
          <p:cNvPr id="10" name="Text 8"/>
          <p:cNvSpPr/>
          <p:nvPr/>
        </p:nvSpPr>
        <p:spPr>
          <a:xfrm>
            <a:off x="290168" y="3845173"/>
            <a:ext cx="1863228" cy="1050275"/>
          </a:xfrm>
          <a:prstGeom prst="diamond">
            <a:avLst/>
          </a:prstGeom>
          <a:solidFill>
            <a:srgbClr val="E498FF"/>
          </a:solidFill>
          <a:ln/>
        </p:spPr>
        <p:txBody>
          <a:bodyPr wrap="square" rtlCol="0" anchor="ctr"/>
          <a:lstStyle/>
          <a:p>
            <a:pPr indent="0" marL="0">
              <a:buNone/>
            </a:pPr>
            <a:r>
              <a:rPr lang="en-US" dirty="0">
                <a:solidFill>
                  <a:srgbClr val="000000"/>
                </a:solidFill>
              </a:rPr>
              <a:t>Mutual Information</a:t>
            </a:r>
            <a:endParaRPr lang="en-US" dirty="0"/>
          </a:p>
        </p:txBody>
      </p:sp>
      <p:sp>
        <p:nvSpPr>
          <p:cNvPr id="11" name="Shape 9"/>
          <p:cNvSpPr/>
          <p:nvPr/>
        </p:nvSpPr>
        <p:spPr>
          <a:xfrm>
            <a:off x="123825" y="576263"/>
            <a:ext cx="4405313" cy="4376738"/>
          </a:xfrm>
          <a:prstGeom prst="rect">
            <a:avLst/>
          </a:prstGeom>
          <a:solidFill>
            <a:srgbClr val="000000">
              <a:alpha val="70000"/>
            </a:srgbClr>
          </a:solidFill>
          <a:ln/>
        </p:spPr>
      </p:sp>
      <p:pic>
        <p:nvPicPr>
          <p:cNvPr id="12" name="Image 0" descr="preencoded.png">    </p:cNvPr>
          <p:cNvPicPr>
            <a:picLocks noChangeAspect="1"/>
          </p:cNvPicPr>
          <p:nvPr/>
        </p:nvPicPr>
        <p:blipFill>
          <a:blip r:embed="rId1"/>
          <a:stretch>
            <a:fillRect/>
          </a:stretch>
        </p:blipFill>
        <p:spPr>
          <a:xfrm>
            <a:off x="7115175" y="1795463"/>
            <a:ext cx="1838325" cy="909638"/>
          </a:xfrm>
          <a:prstGeom prst="rect">
            <a:avLst/>
          </a:prstGeom>
        </p:spPr>
      </p:pic>
      <p:pic>
        <p:nvPicPr>
          <p:cNvPr id="13" name="Image 1" descr="preencoded.png">    </p:cNvPr>
          <p:cNvPicPr>
            <a:picLocks noChangeAspect="1"/>
          </p:cNvPicPr>
          <p:nvPr/>
        </p:nvPicPr>
        <p:blipFill>
          <a:blip r:embed="rId2"/>
          <a:stretch>
            <a:fillRect/>
          </a:stretch>
        </p:blipFill>
        <p:spPr>
          <a:xfrm>
            <a:off x="376014" y="1340673"/>
            <a:ext cx="782659" cy="908892"/>
          </a:xfrm>
          <a:prstGeom prst="rect">
            <a:avLst/>
          </a:prstGeom>
        </p:spPr>
      </p:pic>
      <p:pic>
        <p:nvPicPr>
          <p:cNvPr id="14" name="Image 2" descr="preencoded.png">    </p:cNvPr>
          <p:cNvPicPr>
            <a:picLocks noChangeAspect="1"/>
          </p:cNvPicPr>
          <p:nvPr/>
        </p:nvPicPr>
        <p:blipFill>
          <a:blip r:embed="rId3"/>
          <a:stretch>
            <a:fillRect/>
          </a:stretch>
        </p:blipFill>
        <p:spPr>
          <a:xfrm>
            <a:off x="1234399" y="1340673"/>
            <a:ext cx="782659" cy="908892"/>
          </a:xfrm>
          <a:prstGeom prst="rect">
            <a:avLst/>
          </a:prstGeom>
        </p:spPr>
      </p:pic>
      <p:pic>
        <p:nvPicPr>
          <p:cNvPr id="15" name="Image 3" descr="preencoded.png">    </p:cNvPr>
          <p:cNvPicPr>
            <a:picLocks noChangeAspect="1"/>
          </p:cNvPicPr>
          <p:nvPr/>
        </p:nvPicPr>
        <p:blipFill>
          <a:blip r:embed="rId4"/>
          <a:stretch>
            <a:fillRect/>
          </a:stretch>
        </p:blipFill>
        <p:spPr>
          <a:xfrm>
            <a:off x="2688636" y="1789348"/>
            <a:ext cx="1676400" cy="555434"/>
          </a:xfrm>
          <a:prstGeom prst="rect">
            <a:avLst/>
          </a:prstGeom>
        </p:spPr>
      </p:pic>
      <p:pic>
        <p:nvPicPr>
          <p:cNvPr id="16" name="Image 4" descr="preencoded.png">    </p:cNvPr>
          <p:cNvPicPr>
            <a:picLocks noChangeAspect="1"/>
          </p:cNvPicPr>
          <p:nvPr/>
        </p:nvPicPr>
        <p:blipFill>
          <a:blip r:embed="rId5"/>
          <a:stretch>
            <a:fillRect/>
          </a:stretch>
        </p:blipFill>
        <p:spPr>
          <a:xfrm>
            <a:off x="2668432" y="2895887"/>
            <a:ext cx="1676400" cy="560483"/>
          </a:xfrm>
          <a:prstGeom prst="rect">
            <a:avLst/>
          </a:prstGeom>
        </p:spPr>
      </p:pic>
      <p:pic>
        <p:nvPicPr>
          <p:cNvPr id="17" name="Image 5" descr="preencoded.png">    </p:cNvPr>
          <p:cNvPicPr>
            <a:picLocks noChangeAspect="1"/>
          </p:cNvPicPr>
          <p:nvPr/>
        </p:nvPicPr>
        <p:blipFill>
          <a:blip r:embed="rId6"/>
          <a:stretch>
            <a:fillRect/>
          </a:stretch>
        </p:blipFill>
        <p:spPr>
          <a:xfrm>
            <a:off x="5046706" y="1441660"/>
            <a:ext cx="1413831" cy="848299"/>
          </a:xfrm>
          <a:prstGeom prst="rect">
            <a:avLst/>
          </a:prstGeom>
        </p:spPr>
      </p:pic>
      <p:pic>
        <p:nvPicPr>
          <p:cNvPr id="18" name="Image 6" descr="preencoded.png">    </p:cNvPr>
          <p:cNvPicPr>
            <a:picLocks noChangeAspect="1"/>
          </p:cNvPicPr>
          <p:nvPr/>
        </p:nvPicPr>
        <p:blipFill>
          <a:blip r:embed="rId7"/>
          <a:stretch>
            <a:fillRect/>
          </a:stretch>
        </p:blipFill>
        <p:spPr>
          <a:xfrm>
            <a:off x="5046985" y="2597972"/>
            <a:ext cx="1413831" cy="848299"/>
          </a:xfrm>
          <a:prstGeom prst="rect">
            <a:avLst/>
          </a:prstGeom>
        </p:spPr>
      </p:pic>
      <p:pic>
        <p:nvPicPr>
          <p:cNvPr id="19" name="Image 7" descr="preencoded.png">    </p:cNvPr>
          <p:cNvPicPr>
            <a:picLocks noChangeAspect="1"/>
          </p:cNvPicPr>
          <p:nvPr/>
        </p:nvPicPr>
        <p:blipFill>
          <a:blip r:embed="rId8"/>
          <a:stretch>
            <a:fillRect/>
          </a:stretch>
        </p:blipFill>
        <p:spPr>
          <a:xfrm>
            <a:off x="7210425" y="3024188"/>
            <a:ext cx="1651155" cy="565533"/>
          </a:xfrm>
          <a:prstGeom prst="rect">
            <a:avLst/>
          </a:prstGeom>
        </p:spPr>
      </p:pic>
      <p:pic>
        <p:nvPicPr>
          <p:cNvPr id="20" name="Image 8" descr="preencoded.png">    </p:cNvPr>
          <p:cNvPicPr>
            <a:picLocks noChangeAspect="1"/>
          </p:cNvPicPr>
          <p:nvPr/>
        </p:nvPicPr>
        <p:blipFill>
          <a:blip r:embed="rId9"/>
          <a:stretch>
            <a:fillRect/>
          </a:stretch>
        </p:blipFill>
        <p:spPr>
          <a:xfrm>
            <a:off x="451749" y="2754504"/>
            <a:ext cx="1540066" cy="848299"/>
          </a:xfrm>
          <a:prstGeom prst="rect">
            <a:avLst/>
          </a:prstGeom>
        </p:spPr>
      </p:pic>
      <p:pic>
        <p:nvPicPr>
          <p:cNvPr id="21" name="Image 9" descr="preencoded.png">    </p:cNvPr>
          <p:cNvPicPr>
            <a:picLocks noChangeAspect="1"/>
          </p:cNvPicPr>
          <p:nvPr/>
        </p:nvPicPr>
        <p:blipFill>
          <a:blip r:embed="rId10"/>
          <a:stretch>
            <a:fillRect/>
          </a:stretch>
        </p:blipFill>
        <p:spPr>
          <a:xfrm>
            <a:off x="767339" y="2278139"/>
            <a:ext cx="534107" cy="464458"/>
          </a:xfrm>
          <a:prstGeom prst="rect">
            <a:avLst/>
          </a:prstGeom>
        </p:spPr>
      </p:pic>
      <p:pic>
        <p:nvPicPr>
          <p:cNvPr id="22" name="Image 10" descr="preencoded.png">    </p:cNvPr>
          <p:cNvPicPr>
            <a:picLocks noChangeAspect="1"/>
          </p:cNvPicPr>
          <p:nvPr/>
        </p:nvPicPr>
        <p:blipFill>
          <a:blip r:embed="rId11"/>
          <a:stretch>
            <a:fillRect/>
          </a:stretch>
        </p:blipFill>
        <p:spPr>
          <a:xfrm>
            <a:off x="1221786" y="2278139"/>
            <a:ext cx="483617" cy="464458"/>
          </a:xfrm>
          <a:prstGeom prst="rect">
            <a:avLst/>
          </a:prstGeom>
        </p:spPr>
      </p:pic>
      <p:pic>
        <p:nvPicPr>
          <p:cNvPr id="23" name="Image 11" descr="preencoded.png">    </p:cNvPr>
          <p:cNvPicPr>
            <a:picLocks noChangeAspect="1"/>
          </p:cNvPicPr>
          <p:nvPr/>
        </p:nvPicPr>
        <p:blipFill>
          <a:blip r:embed="rId12"/>
          <a:stretch>
            <a:fillRect/>
          </a:stretch>
        </p:blipFill>
        <p:spPr>
          <a:xfrm>
            <a:off x="1221786" y="3631377"/>
            <a:ext cx="140289" cy="201890"/>
          </a:xfrm>
          <a:prstGeom prst="rect">
            <a:avLst/>
          </a:prstGeom>
        </p:spPr>
      </p:pic>
      <p:pic>
        <p:nvPicPr>
          <p:cNvPr id="24" name="Image 12" descr="preencoded.png">    </p:cNvPr>
          <p:cNvPicPr>
            <a:picLocks noChangeAspect="1"/>
          </p:cNvPicPr>
          <p:nvPr/>
        </p:nvPicPr>
        <p:blipFill>
          <a:blip r:embed="rId13"/>
          <a:stretch>
            <a:fillRect/>
          </a:stretch>
        </p:blipFill>
        <p:spPr>
          <a:xfrm>
            <a:off x="2181969" y="2067065"/>
            <a:ext cx="494760" cy="2382913"/>
          </a:xfrm>
          <a:prstGeom prst="rect">
            <a:avLst/>
          </a:prstGeom>
        </p:spPr>
      </p:pic>
      <p:pic>
        <p:nvPicPr>
          <p:cNvPr id="25" name="Image 13" descr="preencoded.png">    </p:cNvPr>
          <p:cNvPicPr>
            <a:picLocks noChangeAspect="1"/>
          </p:cNvPicPr>
          <p:nvPr/>
        </p:nvPicPr>
        <p:blipFill>
          <a:blip r:embed="rId14"/>
          <a:stretch>
            <a:fillRect/>
          </a:stretch>
        </p:blipFill>
        <p:spPr>
          <a:xfrm>
            <a:off x="4373407" y="1865809"/>
            <a:ext cx="661392" cy="1389986"/>
          </a:xfrm>
          <a:prstGeom prst="rect">
            <a:avLst/>
          </a:prstGeom>
        </p:spPr>
      </p:pic>
      <p:pic>
        <p:nvPicPr>
          <p:cNvPr id="26" name="Image 14" descr="preencoded.png">    </p:cNvPr>
          <p:cNvPicPr>
            <a:picLocks noChangeAspect="1"/>
          </p:cNvPicPr>
          <p:nvPr/>
        </p:nvPicPr>
        <p:blipFill>
          <a:blip r:embed="rId15"/>
          <a:stretch>
            <a:fillRect/>
          </a:stretch>
        </p:blipFill>
        <p:spPr>
          <a:xfrm>
            <a:off x="5753900" y="2318534"/>
            <a:ext cx="140289" cy="267532"/>
          </a:xfrm>
          <a:prstGeom prst="rect">
            <a:avLst/>
          </a:prstGeom>
        </p:spPr>
      </p:pic>
      <p:pic>
        <p:nvPicPr>
          <p:cNvPr id="27" name="Image 15" descr="preencoded.png">    </p:cNvPr>
          <p:cNvPicPr>
            <a:picLocks noChangeAspect="1"/>
          </p:cNvPicPr>
          <p:nvPr/>
        </p:nvPicPr>
        <p:blipFill>
          <a:blip r:embed="rId16"/>
          <a:stretch>
            <a:fillRect/>
          </a:stretch>
        </p:blipFill>
        <p:spPr>
          <a:xfrm>
            <a:off x="8034338" y="2736056"/>
            <a:ext cx="140289" cy="278606"/>
          </a:xfrm>
          <a:prstGeom prst="rect">
            <a:avLst/>
          </a:prstGeom>
        </p:spPr>
      </p:pic>
      <p:pic>
        <p:nvPicPr>
          <p:cNvPr id="28" name="Image 16" descr="preencoded.png">    </p:cNvPr>
          <p:cNvPicPr>
            <a:picLocks noChangeAspect="1"/>
          </p:cNvPicPr>
          <p:nvPr/>
        </p:nvPicPr>
        <p:blipFill>
          <a:blip r:embed="rId17"/>
          <a:stretch>
            <a:fillRect/>
          </a:stretch>
        </p:blipFill>
        <p:spPr>
          <a:xfrm>
            <a:off x="2181969" y="3176129"/>
            <a:ext cx="474557" cy="1273849"/>
          </a:xfrm>
          <a:prstGeom prst="rect">
            <a:avLst/>
          </a:prstGeom>
        </p:spPr>
      </p:pic>
      <p:pic>
        <p:nvPicPr>
          <p:cNvPr id="29" name="Image 17" descr="preencoded.png">    </p:cNvPr>
          <p:cNvPicPr>
            <a:picLocks noChangeAspect="1"/>
          </p:cNvPicPr>
          <p:nvPr/>
        </p:nvPicPr>
        <p:blipFill>
          <a:blip r:embed="rId18"/>
          <a:stretch>
            <a:fillRect/>
          </a:stretch>
        </p:blipFill>
        <p:spPr>
          <a:xfrm>
            <a:off x="5046985" y="3819927"/>
            <a:ext cx="1413831" cy="848299"/>
          </a:xfrm>
          <a:prstGeom prst="rect">
            <a:avLst/>
          </a:prstGeom>
        </p:spPr>
      </p:pic>
      <p:pic>
        <p:nvPicPr>
          <p:cNvPr id="30" name="Image 18" descr="preencoded.png">    </p:cNvPr>
          <p:cNvPicPr>
            <a:picLocks noChangeAspect="1"/>
          </p:cNvPicPr>
          <p:nvPr/>
        </p:nvPicPr>
        <p:blipFill>
          <a:blip r:embed="rId19"/>
          <a:stretch>
            <a:fillRect/>
          </a:stretch>
        </p:blipFill>
        <p:spPr>
          <a:xfrm>
            <a:off x="5753900" y="3474846"/>
            <a:ext cx="140289" cy="333174"/>
          </a:xfrm>
          <a:prstGeom prst="rect">
            <a:avLst/>
          </a:prstGeom>
        </p:spPr>
      </p:pic>
      <p:pic>
        <p:nvPicPr>
          <p:cNvPr id="31" name="Image 19" descr="preencoded.png">    </p:cNvPr>
          <p:cNvPicPr>
            <a:picLocks noChangeAspect="1"/>
          </p:cNvPicPr>
          <p:nvPr/>
        </p:nvPicPr>
        <p:blipFill>
          <a:blip r:embed="rId20"/>
          <a:stretch>
            <a:fillRect/>
          </a:stretch>
        </p:blipFill>
        <p:spPr>
          <a:xfrm>
            <a:off x="6489390" y="2250281"/>
            <a:ext cx="613879" cy="2073461"/>
          </a:xfrm>
          <a:prstGeom prst="rect">
            <a:avLst/>
          </a:prstGeom>
        </p:spPr>
      </p:pic>
      <p:sp>
        <p:nvSpPr>
          <p:cNvPr id="32" name="Text 10"/>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33" name="Text 11"/>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34" name="Text 12"/>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35" name="Text 13"/>
          <p:cNvSpPr/>
          <p:nvPr/>
        </p:nvSpPr>
        <p:spPr>
          <a:xfrm>
            <a:off x="366713" y="785813"/>
            <a:ext cx="2205037" cy="200025"/>
          </a:xfrm>
          <a:prstGeom prst="rect">
            <a:avLst/>
          </a:prstGeom>
          <a:noFill/>
          <a:ln/>
        </p:spPr>
        <p:txBody>
          <a:bodyPr wrap="square" rtlCol="0" anchor="ctr"/>
          <a:lstStyle/>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(1)Data / (2)Features</a:t>
            </a:r>
            <a:endParaRPr lang="en-US" sz="1350" dirty="0"/>
          </a:p>
        </p:txBody>
      </p:sp>
      <p:sp>
        <p:nvSpPr>
          <p:cNvPr id="36" name="Text 14"/>
          <p:cNvSpPr/>
          <p:nvPr/>
        </p:nvSpPr>
        <p:spPr>
          <a:xfrm>
            <a:off x="2690813" y="785813"/>
            <a:ext cx="2005012" cy="200025"/>
          </a:xfrm>
          <a:prstGeom prst="rect">
            <a:avLst/>
          </a:prstGeom>
          <a:noFill/>
          <a:ln/>
        </p:spPr>
        <p:txBody>
          <a:bodyPr wrap="square" rtlCol="0" anchor="ctr"/>
          <a:lstStyle/>
          <a:p>
            <a:pPr algn="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Model/ (3) Metrics</a:t>
            </a:r>
            <a:endParaRPr lang="en-US" sz="1350" dirty="0"/>
          </a:p>
        </p:txBody>
      </p:sp>
      <p:sp>
        <p:nvSpPr>
          <p:cNvPr id="37" name="Text 15"/>
          <p:cNvSpPr/>
          <p:nvPr/>
        </p:nvSpPr>
        <p:spPr>
          <a:xfrm>
            <a:off x="4572000" y="657225"/>
            <a:ext cx="2619375" cy="400050"/>
          </a:xfrm>
          <a:prstGeom prst="rect">
            <a:avLst/>
          </a:prstGeom>
          <a:noFill/>
          <a:ln/>
        </p:spPr>
        <p:txBody>
          <a:bodyPr wrap="square" rtlCol="0" anchor="ctr"/>
          <a:lstStyle/>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Hyperparameter</a:t>
            </a:r>
            <a:endParaRPr lang="en-US" sz="1350" dirty="0"/>
          </a:p>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(4)Sampler / (5)Threshold</a:t>
            </a:r>
            <a:endParaRPr lang="en-US" sz="1350" dirty="0"/>
          </a:p>
        </p:txBody>
      </p:sp>
      <p:sp>
        <p:nvSpPr>
          <p:cNvPr id="38" name="Text 16"/>
          <p:cNvSpPr/>
          <p:nvPr/>
        </p:nvSpPr>
        <p:spPr>
          <a:xfrm>
            <a:off x="7353300" y="785813"/>
            <a:ext cx="1562100" cy="200025"/>
          </a:xfrm>
          <a:prstGeom prst="rect">
            <a:avLst/>
          </a:prstGeom>
          <a:noFill/>
          <a:ln/>
        </p:spPr>
        <p:txBody>
          <a:bodyPr wrap="square" rtlCol="0" anchor="ctr"/>
          <a:lstStyle/>
          <a:p>
            <a:pPr algn="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Final Release</a:t>
            </a:r>
            <a:endParaRPr lang="en-US" sz="1350" dirty="0"/>
          </a:p>
        </p:txBody>
      </p:sp>
      <p:sp>
        <p:nvSpPr>
          <p:cNvPr id="39" name="Text 17"/>
          <p:cNvSpPr/>
          <p:nvPr/>
        </p:nvSpPr>
        <p:spPr>
          <a:xfrm>
            <a:off x="123825" y="280988"/>
            <a:ext cx="2090737"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Workflow Overview</a:t>
            </a:r>
            <a:endParaRPr lang="en-US" sz="1350" dirty="0"/>
          </a:p>
        </p:txBody>
      </p:sp>
      <p:sp>
        <p:nvSpPr>
          <p:cNvPr id="40" name="Text 18"/>
          <p:cNvSpPr/>
          <p:nvPr/>
        </p:nvSpPr>
        <p:spPr>
          <a:xfrm>
            <a:off x="8758238" y="4491038"/>
            <a:ext cx="647700"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14</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985838" y="2362200"/>
            <a:ext cx="190500" cy="190500"/>
          </a:xfrm>
          <a:prstGeom prst="rect">
            <a:avLst/>
          </a:prstGeom>
          <a:noFill/>
          <a:ln/>
        </p:spPr>
      </p:sp>
      <p:sp>
        <p:nvSpPr>
          <p:cNvPr id="3" name="Shape 1"/>
          <p:cNvSpPr/>
          <p:nvPr/>
        </p:nvSpPr>
        <p:spPr>
          <a:xfrm>
            <a:off x="985838" y="2362200"/>
            <a:ext cx="190500" cy="190500"/>
          </a:xfrm>
          <a:prstGeom prst="roundRect">
            <a:avLst/>
          </a:prstGeom>
          <a:solidFill>
            <a:srgbClr val="000000"/>
          </a:solidFill>
          <a:ln/>
        </p:spPr>
      </p:sp>
      <p:sp>
        <p:nvSpPr>
          <p:cNvPr id="4" name="Shape 2"/>
          <p:cNvSpPr/>
          <p:nvPr/>
        </p:nvSpPr>
        <p:spPr>
          <a:xfrm>
            <a:off x="4776788" y="4019550"/>
            <a:ext cx="190500" cy="190500"/>
          </a:xfrm>
          <a:prstGeom prst="rect">
            <a:avLst/>
          </a:prstGeom>
          <a:noFill/>
          <a:ln/>
        </p:spPr>
      </p:sp>
      <p:sp>
        <p:nvSpPr>
          <p:cNvPr id="5" name="Shape 3"/>
          <p:cNvSpPr/>
          <p:nvPr/>
        </p:nvSpPr>
        <p:spPr>
          <a:xfrm>
            <a:off x="4776788" y="4019550"/>
            <a:ext cx="190500" cy="190500"/>
          </a:xfrm>
          <a:prstGeom prst="roundRect">
            <a:avLst/>
          </a:prstGeom>
          <a:solidFill>
            <a:srgbClr val="000000"/>
          </a:solidFill>
          <a:ln/>
        </p:spPr>
      </p:sp>
      <p:sp>
        <p:nvSpPr>
          <p:cNvPr id="6" name="Shape 4"/>
          <p:cNvSpPr/>
          <p:nvPr/>
        </p:nvSpPr>
        <p:spPr>
          <a:xfrm>
            <a:off x="4776788" y="2590800"/>
            <a:ext cx="190500" cy="190500"/>
          </a:xfrm>
          <a:prstGeom prst="rect">
            <a:avLst/>
          </a:prstGeom>
          <a:noFill/>
          <a:ln/>
        </p:spPr>
      </p:sp>
      <p:sp>
        <p:nvSpPr>
          <p:cNvPr id="7" name="Shape 5"/>
          <p:cNvSpPr/>
          <p:nvPr/>
        </p:nvSpPr>
        <p:spPr>
          <a:xfrm>
            <a:off x="4776788" y="2590800"/>
            <a:ext cx="190500" cy="190500"/>
          </a:xfrm>
          <a:prstGeom prst="roundRect">
            <a:avLst/>
          </a:prstGeom>
          <a:solidFill>
            <a:srgbClr val="000000"/>
          </a:solidFill>
          <a:ln/>
        </p:spPr>
      </p:sp>
      <p:sp>
        <p:nvSpPr>
          <p:cNvPr id="8" name="Shape 6"/>
          <p:cNvSpPr/>
          <p:nvPr/>
        </p:nvSpPr>
        <p:spPr>
          <a:xfrm>
            <a:off x="4776788" y="1419225"/>
            <a:ext cx="190500" cy="190500"/>
          </a:xfrm>
          <a:prstGeom prst="rect">
            <a:avLst/>
          </a:prstGeom>
          <a:noFill/>
          <a:ln/>
        </p:spPr>
      </p:sp>
      <p:sp>
        <p:nvSpPr>
          <p:cNvPr id="9" name="Shape 7"/>
          <p:cNvSpPr/>
          <p:nvPr/>
        </p:nvSpPr>
        <p:spPr>
          <a:xfrm>
            <a:off x="4776788" y="1419225"/>
            <a:ext cx="190500" cy="190500"/>
          </a:xfrm>
          <a:prstGeom prst="roundRect">
            <a:avLst/>
          </a:prstGeom>
          <a:solidFill>
            <a:srgbClr val="000000"/>
          </a:solidFill>
          <a:ln/>
        </p:spPr>
      </p:sp>
      <p:sp>
        <p:nvSpPr>
          <p:cNvPr id="10" name="Text 8"/>
          <p:cNvSpPr/>
          <p:nvPr/>
        </p:nvSpPr>
        <p:spPr>
          <a:xfrm>
            <a:off x="447675" y="638175"/>
            <a:ext cx="8829675" cy="733425"/>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(4) 3 Sampler &amp;  1 Weighting  to deal with imbalanced target</a:t>
            </a:r>
            <a:endParaRPr lang="en-US" sz="2625" dirty="0"/>
          </a:p>
        </p:txBody>
      </p:sp>
      <p:sp>
        <p:nvSpPr>
          <p:cNvPr id="11" name="Text 9"/>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2" name="Text 10"/>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3" name="Text 11"/>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4" name="Text 12"/>
          <p:cNvSpPr/>
          <p:nvPr/>
        </p:nvSpPr>
        <p:spPr>
          <a:xfrm>
            <a:off x="8758238" y="4491038"/>
            <a:ext cx="638175"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15</a:t>
            </a:r>
            <a:endParaRPr lang="en-US" sz="1350" dirty="0"/>
          </a:p>
        </p:txBody>
      </p:sp>
      <p:sp>
        <p:nvSpPr>
          <p:cNvPr id="15" name="Text 13"/>
          <p:cNvSpPr/>
          <p:nvPr/>
        </p:nvSpPr>
        <p:spPr>
          <a:xfrm>
            <a:off x="1304925" y="2305050"/>
            <a:ext cx="2505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scale_pos_weight</a:t>
            </a:r>
            <a:endParaRPr lang="en-US" sz="1500" dirty="0"/>
          </a:p>
        </p:txBody>
      </p:sp>
      <p:sp>
        <p:nvSpPr>
          <p:cNvPr id="16" name="Text 14"/>
          <p:cNvSpPr/>
          <p:nvPr/>
        </p:nvSpPr>
        <p:spPr>
          <a:xfrm>
            <a:off x="1157288" y="2733675"/>
            <a:ext cx="3367088" cy="77152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Does not modify the data. Instead, it tells the model to give more </a:t>
            </a:r>
            <a:pPr algn="l" indent="0" marL="0">
              <a:lnSpc>
                <a:spcPts val="2025"/>
              </a:lnSpc>
              <a:buNone/>
            </a:pPr>
            <a:r>
              <a:rPr lang="en-US" sz="1350" b="1" spc="-30" kern="0" dirty="0">
                <a:solidFill>
                  <a:srgbClr val="000000">
                    <a:alpha val="99000"/>
                  </a:srgbClr>
                </a:solidFill>
                <a:latin typeface="Inter" pitchFamily="34" charset="0"/>
                <a:ea typeface="Inter" pitchFamily="34" charset="-122"/>
                <a:cs typeface="Inter" pitchFamily="34" charset="-120"/>
              </a:rPr>
              <a:t>weight</a:t>
            </a:r>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 to rare fraud cases</a:t>
            </a:r>
            <a:endParaRPr lang="en-US" sz="1350" dirty="0"/>
          </a:p>
        </p:txBody>
      </p:sp>
      <p:sp>
        <p:nvSpPr>
          <p:cNvPr id="17" name="Text 15"/>
          <p:cNvSpPr/>
          <p:nvPr/>
        </p:nvSpPr>
        <p:spPr>
          <a:xfrm>
            <a:off x="5095875" y="3962400"/>
            <a:ext cx="1962150"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SMOTETomek</a:t>
            </a:r>
            <a:endParaRPr lang="en-US" sz="1500" dirty="0"/>
          </a:p>
        </p:txBody>
      </p:sp>
      <p:sp>
        <p:nvSpPr>
          <p:cNvPr id="18" name="Text 16"/>
          <p:cNvSpPr/>
          <p:nvPr/>
        </p:nvSpPr>
        <p:spPr>
          <a:xfrm>
            <a:off x="4948238" y="4391025"/>
            <a:ext cx="4024312"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Combines SMOTE with a cleaning step that removes overlapping samples</a:t>
            </a:r>
            <a:endParaRPr lang="en-US" sz="1350" dirty="0"/>
          </a:p>
        </p:txBody>
      </p:sp>
      <p:sp>
        <p:nvSpPr>
          <p:cNvPr id="19" name="Text 17"/>
          <p:cNvSpPr/>
          <p:nvPr/>
        </p:nvSpPr>
        <p:spPr>
          <a:xfrm>
            <a:off x="5095875" y="2533650"/>
            <a:ext cx="1466850"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ADASyn</a:t>
            </a:r>
            <a:endParaRPr lang="en-US" sz="1500" dirty="0"/>
          </a:p>
        </p:txBody>
      </p:sp>
      <p:sp>
        <p:nvSpPr>
          <p:cNvPr id="20" name="Text 18"/>
          <p:cNvSpPr/>
          <p:nvPr/>
        </p:nvSpPr>
        <p:spPr>
          <a:xfrm>
            <a:off x="4948238" y="2962275"/>
            <a:ext cx="4095750" cy="77152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Like SMOTE, but focuses more on hard-to-classify fraud examples by generating more near them</a:t>
            </a:r>
            <a:endParaRPr lang="en-US" sz="1350" dirty="0"/>
          </a:p>
        </p:txBody>
      </p:sp>
      <p:sp>
        <p:nvSpPr>
          <p:cNvPr id="21" name="Text 19"/>
          <p:cNvSpPr/>
          <p:nvPr/>
        </p:nvSpPr>
        <p:spPr>
          <a:xfrm>
            <a:off x="5095875" y="1362075"/>
            <a:ext cx="1466850"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SMOTE</a:t>
            </a:r>
            <a:endParaRPr lang="en-US" sz="1500" dirty="0"/>
          </a:p>
        </p:txBody>
      </p:sp>
      <p:sp>
        <p:nvSpPr>
          <p:cNvPr id="22" name="Text 20"/>
          <p:cNvSpPr/>
          <p:nvPr/>
        </p:nvSpPr>
        <p:spPr>
          <a:xfrm>
            <a:off x="4948238" y="1790700"/>
            <a:ext cx="4005263"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Generates synthetic examples of the minority class </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9"/>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143500" y="1333500"/>
            <a:ext cx="3100388" cy="3148013"/>
          </a:xfrm>
          <a:prstGeom prst="rect">
            <a:avLst/>
          </a:prstGeom>
        </p:spPr>
      </p:pic>
      <p:sp>
        <p:nvSpPr>
          <p:cNvPr id="4" name="Text 0"/>
          <p:cNvSpPr/>
          <p:nvPr/>
        </p:nvSpPr>
        <p:spPr>
          <a:xfrm>
            <a:off x="5143500" y="4614863"/>
            <a:ext cx="3557588" cy="285750"/>
          </a:xfrm>
          <a:prstGeom prst="rect">
            <a:avLst/>
          </a:prstGeom>
          <a:noFill/>
          <a:ln/>
        </p:spPr>
        <p:txBody>
          <a:bodyPr wrap="square" rtlCol="0" anchor="ctr"/>
          <a:lstStyle/>
          <a:p>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The Best Threshold  : 0.744</a:t>
            </a:r>
            <a:endParaRPr lang="en-US" sz="1500" dirty="0"/>
          </a:p>
        </p:txBody>
      </p:sp>
      <p:sp>
        <p:nvSpPr>
          <p:cNvPr id="5" name="Text 1"/>
          <p:cNvSpPr/>
          <p:nvPr/>
        </p:nvSpPr>
        <p:spPr>
          <a:xfrm>
            <a:off x="447675" y="1333500"/>
            <a:ext cx="4938713" cy="1285875"/>
          </a:xfrm>
          <a:prstGeom prst="rect">
            <a:avLst/>
          </a:prstGeom>
          <a:noFill/>
          <a:ln/>
        </p:spPr>
        <p:txBody>
          <a:bodyPr wrap="square" rtlCol="0" anchor="ctr"/>
          <a:lstStyle/>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[1]  </a:t>
            </a:r>
            <a:pPr algn="l" indent="0" marL="0">
              <a:lnSpc>
                <a:spcPts val="270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Find the best Hyperparameters</a:t>
            </a:r>
            <a:endParaRPr lang="en-US" sz="1800" dirty="0"/>
          </a:p>
          <a:p>
            <a:pPr algn="l" indent="0" marL="0">
              <a:lnSpc>
                <a:spcPts val="2700"/>
              </a:lnSpc>
              <a:buNone/>
            </a:pPr>
            <a:r>
              <a:rPr lang="en-US" sz="1350" b="1" spc="-40" kern="0" dirty="0">
                <a:solidFill>
                  <a:srgbClr val="000000">
                    <a:alpha val="99000"/>
                  </a:srgbClr>
                </a:solidFill>
                <a:latin typeface="Plus Jakarta Sans" pitchFamily="34" charset="0"/>
                <a:ea typeface="Plus Jakarta Sans" pitchFamily="34" charset="-122"/>
                <a:cs typeface="Plus Jakarta Sans" pitchFamily="34" charset="-120"/>
              </a:rPr>
              <a:t>           </a:t>
            </a:r>
            <a:pPr algn="l" indent="0" marL="0">
              <a:lnSpc>
                <a:spcPts val="2700"/>
              </a:lnSpc>
              <a:buNone/>
            </a:pPr>
            <a:r>
              <a:rPr lang="en-US" sz="1350" spc="-40" kern="0" dirty="0">
                <a:solidFill>
                  <a:srgbClr val="000000">
                    <a:alpha val="99000"/>
                  </a:srgbClr>
                </a:solidFill>
                <a:latin typeface="Plus Jakarta Sans" pitchFamily="34" charset="0"/>
                <a:ea typeface="Plus Jakarta Sans" pitchFamily="34" charset="-122"/>
                <a:cs typeface="Plus Jakarta Sans" pitchFamily="34" charset="-120"/>
              </a:rPr>
              <a:t>(RandomizedSearchCV, StratifiedKFold) </a:t>
            </a:r>
            <a:endParaRPr lang="en-US" sz="1800" dirty="0"/>
          </a:p>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 </a:t>
            </a:r>
            <a:pPr algn="l" indent="0" marL="0">
              <a:lnSpc>
                <a:spcPts val="270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a:t>
            </a:r>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The Best Model”</a:t>
            </a:r>
            <a:endParaRPr lang="en-US" sz="1800" dirty="0"/>
          </a:p>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 Crossvalidation Best Model</a:t>
            </a:r>
            <a:endParaRPr lang="en-US" sz="1800" dirty="0"/>
          </a:p>
        </p:txBody>
      </p:sp>
      <p:sp>
        <p:nvSpPr>
          <p:cNvPr id="6" name="Text 2"/>
          <p:cNvSpPr/>
          <p:nvPr/>
        </p:nvSpPr>
        <p:spPr>
          <a:xfrm>
            <a:off x="447675" y="2967038"/>
            <a:ext cx="4824413" cy="685800"/>
          </a:xfrm>
          <a:prstGeom prst="rect">
            <a:avLst/>
          </a:prstGeom>
          <a:noFill/>
          <a:ln/>
        </p:spPr>
        <p:txBody>
          <a:bodyPr wrap="square" rtlCol="0" anchor="ctr"/>
          <a:lstStyle/>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[2]  </a:t>
            </a:r>
            <a:pPr algn="l" indent="0" marL="0">
              <a:lnSpc>
                <a:spcPts val="270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Precision-Recall Curve</a:t>
            </a:r>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with train data</a:t>
            </a:r>
            <a:endParaRPr lang="en-US" sz="1800" dirty="0"/>
          </a:p>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 </a:t>
            </a:r>
            <a:pPr algn="l" indent="0" marL="0">
              <a:lnSpc>
                <a:spcPts val="270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“The Best Threshold”</a:t>
            </a:r>
            <a:endParaRPr lang="en-US" sz="1800" dirty="0"/>
          </a:p>
        </p:txBody>
      </p:sp>
      <p:sp>
        <p:nvSpPr>
          <p:cNvPr id="7" name="Text 3"/>
          <p:cNvSpPr/>
          <p:nvPr/>
        </p:nvSpPr>
        <p:spPr>
          <a:xfrm>
            <a:off x="447675" y="4000500"/>
            <a:ext cx="4824413" cy="685800"/>
          </a:xfrm>
          <a:prstGeom prst="rect">
            <a:avLst/>
          </a:prstGeom>
          <a:noFill/>
          <a:ln/>
        </p:spPr>
        <p:txBody>
          <a:bodyPr wrap="square" rtlCol="0" anchor="ctr"/>
          <a:lstStyle/>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[3]</a:t>
            </a:r>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a:t>
            </a:r>
            <a:pPr algn="l" indent="0" marL="0">
              <a:lnSpc>
                <a:spcPts val="270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Predicte fraud</a:t>
            </a:r>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with test data</a:t>
            </a:r>
            <a:endParaRPr lang="en-US" sz="1800" dirty="0"/>
          </a:p>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                               → </a:t>
            </a:r>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using fitted threshold</a:t>
            </a:r>
            <a:endParaRPr lang="en-US" sz="1800" dirty="0"/>
          </a:p>
        </p:txBody>
      </p:sp>
      <p:sp>
        <p:nvSpPr>
          <p:cNvPr id="8" name="Text 4"/>
          <p:cNvSpPr/>
          <p:nvPr/>
        </p:nvSpPr>
        <p:spPr>
          <a:xfrm>
            <a:off x="447675" y="638175"/>
            <a:ext cx="8491538"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(5) XGboost  with scale_pos_weight </a:t>
            </a:r>
            <a:endParaRPr lang="en-US" sz="2625" dirty="0"/>
          </a:p>
        </p:txBody>
      </p:sp>
      <p:sp>
        <p:nvSpPr>
          <p:cNvPr id="9" name="Text 5"/>
          <p:cNvSpPr/>
          <p:nvPr/>
        </p:nvSpPr>
        <p:spPr>
          <a:xfrm>
            <a:off x="8758238" y="4491038"/>
            <a:ext cx="6429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16</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0" y="280988"/>
            <a:ext cx="9144000" cy="4767263"/>
          </a:xfrm>
          <a:prstGeom prst="roundRect">
            <a:avLst>
              <a:gd name="adj" fmla="val 3069"/>
            </a:avLst>
          </a:prstGeom>
          <a:solidFill>
            <a:srgbClr val="FBF4BD"/>
          </a:solidFill>
          <a:ln w="25400">
            <a:solidFill>
              <a:srgbClr val="A0A0A0"/>
            </a:solidFill>
            <a:prstDash val="solid"/>
          </a:ln>
        </p:spPr>
      </p:sp>
      <p:sp>
        <p:nvSpPr>
          <p:cNvPr id="4" name="Shape 1"/>
          <p:cNvSpPr/>
          <p:nvPr/>
        </p:nvSpPr>
        <p:spPr>
          <a:xfrm>
            <a:off x="104775" y="2490788"/>
            <a:ext cx="8891588" cy="0"/>
          </a:xfrm>
          <a:prstGeom prst="line">
            <a:avLst/>
          </a:prstGeom>
          <a:noFill/>
          <a:ln w="25400">
            <a:solidFill>
              <a:srgbClr val="A0A0A0"/>
            </a:solidFill>
            <a:prstDash val="solid"/>
          </a:ln>
        </p:spPr>
      </p:sp>
      <p:sp>
        <p:nvSpPr>
          <p:cNvPr id="5" name="Shape 2"/>
          <p:cNvSpPr/>
          <p:nvPr/>
        </p:nvSpPr>
        <p:spPr>
          <a:xfrm>
            <a:off x="109538" y="3571875"/>
            <a:ext cx="8891588" cy="0"/>
          </a:xfrm>
          <a:prstGeom prst="line">
            <a:avLst/>
          </a:prstGeom>
          <a:noFill/>
          <a:ln w="25400">
            <a:solidFill>
              <a:srgbClr val="A0A0A0"/>
            </a:solidFill>
            <a:prstDash val="solid"/>
          </a:ln>
        </p:spPr>
      </p:sp>
      <p:sp>
        <p:nvSpPr>
          <p:cNvPr id="6" name="Shape 3"/>
          <p:cNvSpPr/>
          <p:nvPr/>
        </p:nvSpPr>
        <p:spPr>
          <a:xfrm rot="5400000">
            <a:off x="6162675" y="2957513"/>
            <a:ext cx="3067050" cy="0"/>
          </a:xfrm>
          <a:prstGeom prst="line">
            <a:avLst/>
          </a:prstGeom>
          <a:noFill/>
          <a:ln w="25400">
            <a:solidFill>
              <a:srgbClr val="A0A0A0"/>
            </a:solidFill>
            <a:prstDash val="solid"/>
          </a:ln>
        </p:spPr>
      </p:sp>
      <p:sp>
        <p:nvSpPr>
          <p:cNvPr id="7" name="Shape 4"/>
          <p:cNvSpPr/>
          <p:nvPr/>
        </p:nvSpPr>
        <p:spPr>
          <a:xfrm rot="5400000">
            <a:off x="-214312" y="3005138"/>
            <a:ext cx="3067050" cy="0"/>
          </a:xfrm>
          <a:prstGeom prst="line">
            <a:avLst/>
          </a:prstGeom>
          <a:noFill/>
          <a:ln w="25400">
            <a:solidFill>
              <a:srgbClr val="A0A0A0"/>
            </a:solidFill>
            <a:prstDash val="solid"/>
          </a:ln>
        </p:spPr>
      </p:sp>
      <p:sp>
        <p:nvSpPr>
          <p:cNvPr id="8" name="Text 5"/>
          <p:cNvSpPr/>
          <p:nvPr/>
        </p:nvSpPr>
        <p:spPr>
          <a:xfrm>
            <a:off x="2857500" y="1895475"/>
            <a:ext cx="1700213" cy="2286000"/>
          </a:xfrm>
          <a:prstGeom prst="rect">
            <a:avLst/>
          </a:prstGeom>
          <a:noFill/>
          <a:ln/>
        </p:spPr>
        <p:txBody>
          <a:bodyPr wrap="square" rtlCol="0" anchor="ctr"/>
          <a:lstStyle/>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ADASyn</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0.36 </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(0.538)</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0.296</a:t>
            </a:r>
            <a:endParaRPr lang="en-US" sz="1500" dirty="0"/>
          </a:p>
        </p:txBody>
      </p:sp>
      <p:sp>
        <p:nvSpPr>
          <p:cNvPr id="9" name="Text 6"/>
          <p:cNvSpPr/>
          <p:nvPr/>
        </p:nvSpPr>
        <p:spPr>
          <a:xfrm>
            <a:off x="1400175" y="1895475"/>
            <a:ext cx="1724025" cy="2286000"/>
          </a:xfrm>
          <a:prstGeom prst="rect">
            <a:avLst/>
          </a:prstGeom>
          <a:noFill/>
          <a:ln/>
        </p:spPr>
        <p:txBody>
          <a:bodyPr wrap="square" rtlCol="0" anchor="ctr"/>
          <a:lstStyle/>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SMOTE</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0.37 (thre 0.548)</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0.3</a:t>
            </a:r>
            <a:endParaRPr lang="en-US" sz="1500" dirty="0"/>
          </a:p>
        </p:txBody>
      </p:sp>
      <p:sp>
        <p:nvSpPr>
          <p:cNvPr id="10" name="Text 7"/>
          <p:cNvSpPr/>
          <p:nvPr/>
        </p:nvSpPr>
        <p:spPr>
          <a:xfrm>
            <a:off x="8120063" y="3895725"/>
            <a:ext cx="1019175" cy="285750"/>
          </a:xfrm>
          <a:prstGeom prst="rect">
            <a:avLst/>
          </a:prstGeom>
          <a:noFill/>
          <a:ln/>
        </p:spPr>
        <p:txBody>
          <a:bodyPr wrap="square" rtlCol="0" anchor="ctr"/>
          <a:lstStyle/>
          <a:p>
            <a:pPr algn="l" indent="0" marL="0">
              <a:lnSpc>
                <a:spcPts val="2250"/>
              </a:lnSpc>
              <a:buNone/>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0.19</a:t>
            </a:r>
            <a:endParaRPr lang="en-US" sz="1500" dirty="0"/>
          </a:p>
        </p:txBody>
      </p:sp>
      <p:sp>
        <p:nvSpPr>
          <p:cNvPr id="11" name="Text 8"/>
          <p:cNvSpPr/>
          <p:nvPr/>
        </p:nvSpPr>
        <p:spPr>
          <a:xfrm>
            <a:off x="3400425" y="1476375"/>
            <a:ext cx="2371725" cy="276225"/>
          </a:xfrm>
          <a:prstGeom prst="rect">
            <a:avLst/>
          </a:prstGeom>
          <a:noFill/>
          <a:ln/>
        </p:spPr>
        <p:txBody>
          <a:bodyPr wrap="square" rtlCol="0" anchor="ctr"/>
          <a:lstStyle/>
          <a:p>
            <a:pPr algn="l" indent="0" marL="0">
              <a:lnSpc>
                <a:spcPts val="2160"/>
              </a:lnSpc>
              <a:buNone/>
            </a:pPr>
            <a:r>
              <a:rPr lang="en-US" sz="1800" spc="-40" kern="0" dirty="0">
                <a:solidFill>
                  <a:srgbClr val="000000">
                    <a:alpha val="99000"/>
                  </a:srgbClr>
                </a:solidFill>
                <a:latin typeface="Inter" pitchFamily="34" charset="0"/>
                <a:ea typeface="Inter" pitchFamily="34" charset="-122"/>
                <a:cs typeface="Inter" pitchFamily="34" charset="-120"/>
              </a:rPr>
              <a:t>XGBOOST MODEL</a:t>
            </a:r>
            <a:endParaRPr lang="en-US" sz="1800" dirty="0"/>
          </a:p>
        </p:txBody>
      </p:sp>
      <p:sp>
        <p:nvSpPr>
          <p:cNvPr id="12" name="Text 9"/>
          <p:cNvSpPr/>
          <p:nvPr/>
        </p:nvSpPr>
        <p:spPr>
          <a:xfrm>
            <a:off x="7891463" y="1476375"/>
            <a:ext cx="1471613" cy="276225"/>
          </a:xfrm>
          <a:prstGeom prst="rect">
            <a:avLst/>
          </a:prstGeom>
          <a:noFill/>
          <a:ln/>
        </p:spPr>
        <p:txBody>
          <a:bodyPr wrap="square" rtlCol="0" anchor="ctr"/>
          <a:lstStyle/>
          <a:p>
            <a:pPr algn="l" indent="0" marL="0">
              <a:lnSpc>
                <a:spcPts val="2160"/>
              </a:lnSpc>
              <a:buNone/>
            </a:pPr>
            <a:r>
              <a:rPr lang="en-US" sz="1800" spc="-40" kern="0" dirty="0">
                <a:solidFill>
                  <a:srgbClr val="000000">
                    <a:alpha val="99000"/>
                  </a:srgbClr>
                </a:solidFill>
                <a:latin typeface="Inter" pitchFamily="34" charset="0"/>
                <a:ea typeface="Inter" pitchFamily="34" charset="-122"/>
                <a:cs typeface="Inter" pitchFamily="34" charset="-120"/>
              </a:rPr>
              <a:t>LOGISTIC</a:t>
            </a:r>
            <a:endParaRPr lang="en-US" sz="1800" dirty="0"/>
          </a:p>
        </p:txBody>
      </p:sp>
      <p:sp>
        <p:nvSpPr>
          <p:cNvPr id="13" name="Text 10"/>
          <p:cNvSpPr/>
          <p:nvPr/>
        </p:nvSpPr>
        <p:spPr>
          <a:xfrm>
            <a:off x="47625" y="3752850"/>
            <a:ext cx="1685925" cy="571500"/>
          </a:xfrm>
          <a:prstGeom prst="rect">
            <a:avLst/>
          </a:prstGeom>
          <a:noFill/>
          <a:ln/>
        </p:spPr>
        <p:txBody>
          <a:bodyPr wrap="square" rtlCol="0" anchor="ctr"/>
          <a:lstStyle/>
          <a:p>
            <a:pPr algn="ctr" indent="0" marL="0">
              <a:lnSpc>
                <a:spcPts val="2250"/>
              </a:lnSpc>
              <a:buNone/>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F1 Score</a:t>
            </a:r>
            <a:endParaRPr lang="en-US" sz="1500" dirty="0"/>
          </a:p>
          <a:p>
            <a:pPr algn="ctr" indent="0" marL="0">
              <a:lnSpc>
                <a:spcPts val="2250"/>
              </a:lnSpc>
              <a:buNone/>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(threh=0.5)</a:t>
            </a:r>
            <a:endParaRPr lang="en-US" sz="1500" dirty="0"/>
          </a:p>
        </p:txBody>
      </p:sp>
      <p:sp>
        <p:nvSpPr>
          <p:cNvPr id="14" name="Text 11"/>
          <p:cNvSpPr/>
          <p:nvPr/>
        </p:nvSpPr>
        <p:spPr>
          <a:xfrm>
            <a:off x="57150" y="2657475"/>
            <a:ext cx="1685925" cy="857250"/>
          </a:xfrm>
          <a:prstGeom prst="rect">
            <a:avLst/>
          </a:prstGeom>
          <a:noFill/>
          <a:ln/>
        </p:spPr>
        <p:txBody>
          <a:bodyPr wrap="square" rtlCol="0" anchor="ctr"/>
          <a:lstStyle/>
          <a:p>
            <a:pPr algn="ctr" indent="0" marL="0">
              <a:lnSpc>
                <a:spcPts val="2250"/>
              </a:lnSpc>
              <a:buNone/>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F1 Score</a:t>
            </a:r>
            <a:endParaRPr lang="en-US" sz="1500" dirty="0"/>
          </a:p>
          <a:p>
            <a:pPr algn="ctr" indent="0" marL="0">
              <a:lnSpc>
                <a:spcPts val="2250"/>
              </a:lnSpc>
              <a:buNone/>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(fitted threh)</a:t>
            </a:r>
            <a:endParaRPr lang="en-US" sz="1500" dirty="0"/>
          </a:p>
        </p:txBody>
      </p:sp>
      <p:sp>
        <p:nvSpPr>
          <p:cNvPr id="15" name="Text 12"/>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6" name="Text 13"/>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7" name="Text 14"/>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8" name="Text 15"/>
          <p:cNvSpPr/>
          <p:nvPr/>
        </p:nvSpPr>
        <p:spPr>
          <a:xfrm>
            <a:off x="4291013" y="1895475"/>
            <a:ext cx="1862137" cy="2286000"/>
          </a:xfrm>
          <a:prstGeom prst="rect">
            <a:avLst/>
          </a:prstGeom>
          <a:noFill/>
          <a:ln/>
        </p:spPr>
        <p:txBody>
          <a:bodyPr wrap="square" rtlCol="0" anchor="ctr"/>
          <a:lstStyle/>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SMOTETomek</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0.368  (0.559)</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0.301</a:t>
            </a:r>
            <a:endParaRPr lang="en-US" sz="1500" dirty="0"/>
          </a:p>
        </p:txBody>
      </p:sp>
      <p:sp>
        <p:nvSpPr>
          <p:cNvPr id="19" name="Text 16"/>
          <p:cNvSpPr/>
          <p:nvPr/>
        </p:nvSpPr>
        <p:spPr>
          <a:xfrm>
            <a:off x="5886450" y="1895475"/>
            <a:ext cx="2176462" cy="2286000"/>
          </a:xfrm>
          <a:prstGeom prst="rect">
            <a:avLst/>
          </a:prstGeom>
          <a:noFill/>
          <a:ln/>
        </p:spPr>
        <p:txBody>
          <a:bodyPr wrap="square" rtlCol="0" anchor="ctr"/>
          <a:lstStyle/>
          <a:p>
            <a:pPr algn="ct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SCALE_POS_W</a:t>
            </a:r>
            <a:endParaRPr lang="en-US" sz="1500" dirty="0"/>
          </a:p>
          <a:p>
            <a:pPr algn="ct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0.713  </a:t>
            </a:r>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(0.744)</a:t>
            </a:r>
            <a:endParaRPr lang="en-US" sz="1500" dirty="0"/>
          </a:p>
          <a:p>
            <a:pPr algn="ctr" indent="0" marL="0">
              <a:lnSpc>
                <a:spcPts val="2250"/>
              </a:lnSpc>
              <a:buNone/>
            </a:pPr>
            <a:r>
              <a:rPr lang="en-US" sz="1500" spc="60" kern="0" dirty="0">
                <a:solidFill>
                  <a:srgbClr val="000000">
                    <a:alpha val="99000"/>
                  </a:srgbClr>
                </a:solidFill>
                <a:latin typeface="Plus Jakarta Sans" pitchFamily="34" charset="0"/>
                <a:ea typeface="Plus Jakarta Sans" pitchFamily="34" charset="-122"/>
                <a:cs typeface="Plus Jakarta Sans" pitchFamily="34" charset="-120"/>
              </a:rPr>
              <a:t>0.316</a:t>
            </a:r>
            <a:endParaRPr lang="en-US" sz="1500" dirty="0"/>
          </a:p>
        </p:txBody>
      </p:sp>
      <p:sp>
        <p:nvSpPr>
          <p:cNvPr id="20" name="Text 17"/>
          <p:cNvSpPr/>
          <p:nvPr/>
        </p:nvSpPr>
        <p:spPr>
          <a:xfrm>
            <a:off x="447675" y="638175"/>
            <a:ext cx="8491538"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(5) Our scores and fitted thresholds</a:t>
            </a:r>
            <a:endParaRPr lang="en-US" sz="2625" dirty="0"/>
          </a:p>
        </p:txBody>
      </p:sp>
      <p:sp>
        <p:nvSpPr>
          <p:cNvPr id="21" name="Text 18"/>
          <p:cNvSpPr/>
          <p:nvPr/>
        </p:nvSpPr>
        <p:spPr>
          <a:xfrm>
            <a:off x="8758238" y="4491038"/>
            <a:ext cx="633413"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17</a:t>
            </a:r>
            <a:endParaRPr lang="en-US" sz="1350" dirty="0"/>
          </a:p>
        </p:txBody>
      </p:sp>
      <p:sp>
        <p:nvSpPr>
          <p:cNvPr id="22" name="Text 19"/>
          <p:cNvSpPr/>
          <p:nvPr/>
        </p:nvSpPr>
        <p:spPr>
          <a:xfrm>
            <a:off x="114300" y="4757738"/>
            <a:ext cx="1819275" cy="180975"/>
          </a:xfrm>
          <a:prstGeom prst="rect">
            <a:avLst/>
          </a:prstGeom>
          <a:noFill/>
          <a:ln/>
        </p:spPr>
        <p:txBody>
          <a:bodyPr wrap="square" rtlCol="0" anchor="ctr"/>
          <a:lstStyle/>
          <a:p>
            <a:pPr algn="l" indent="0" marL="0">
              <a:lnSpc>
                <a:spcPts val="1440"/>
              </a:lnSpc>
              <a:buNone/>
            </a:pPr>
            <a:r>
              <a:rPr lang="en-US" sz="900" spc="-20" kern="0" dirty="0">
                <a:solidFill>
                  <a:srgbClr val="000000">
                    <a:alpha val="99000"/>
                  </a:srgbClr>
                </a:solidFill>
                <a:latin typeface="Inter" pitchFamily="34" charset="0"/>
                <a:ea typeface="Inter" pitchFamily="34" charset="-122"/>
                <a:cs typeface="Inter" pitchFamily="34" charset="-120"/>
              </a:rPr>
              <a:t>based on the training data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8663" y="2047875"/>
            <a:ext cx="1676400" cy="560483"/>
          </a:xfrm>
          <a:prstGeom prst="rect">
            <a:avLst/>
          </a:prstGeom>
        </p:spPr>
      </p:pic>
      <p:pic>
        <p:nvPicPr>
          <p:cNvPr id="3" name="Image 1" descr="preencoded.png">    </p:cNvPr>
          <p:cNvPicPr>
            <a:picLocks noChangeAspect="1"/>
          </p:cNvPicPr>
          <p:nvPr/>
        </p:nvPicPr>
        <p:blipFill>
          <a:blip r:embed="rId2"/>
          <a:stretch>
            <a:fillRect/>
          </a:stretch>
        </p:blipFill>
        <p:spPr>
          <a:xfrm>
            <a:off x="728663" y="2876550"/>
            <a:ext cx="1651155" cy="666521"/>
          </a:xfrm>
          <a:prstGeom prst="rect">
            <a:avLst/>
          </a:prstGeom>
        </p:spPr>
      </p:pic>
      <p:pic>
        <p:nvPicPr>
          <p:cNvPr id="4" name="Image 2" descr="preencoded.png">    </p:cNvPr>
          <p:cNvPicPr>
            <a:picLocks noChangeAspect="1"/>
          </p:cNvPicPr>
          <p:nvPr/>
        </p:nvPicPr>
        <p:blipFill>
          <a:blip r:embed="rId3"/>
          <a:stretch>
            <a:fillRect/>
          </a:stretch>
        </p:blipFill>
        <p:spPr>
          <a:xfrm>
            <a:off x="1552575" y="2667000"/>
            <a:ext cx="93055" cy="215844"/>
          </a:xfrm>
          <a:prstGeom prst="rect">
            <a:avLst/>
          </a:prstGeom>
        </p:spPr>
      </p:pic>
      <p:sp>
        <p:nvSpPr>
          <p:cNvPr id="5" name="Text 0"/>
          <p:cNvSpPr/>
          <p:nvPr/>
        </p:nvSpPr>
        <p:spPr>
          <a:xfrm>
            <a:off x="447675" y="638175"/>
            <a:ext cx="6515100"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(5) Conclusion </a:t>
            </a:r>
            <a:endParaRPr lang="en-US" sz="2625" dirty="0"/>
          </a:p>
        </p:txBody>
      </p:sp>
      <p:sp>
        <p:nvSpPr>
          <p:cNvPr id="6"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7"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8"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9" name="Text 4"/>
          <p:cNvSpPr/>
          <p:nvPr/>
        </p:nvSpPr>
        <p:spPr>
          <a:xfrm>
            <a:off x="523875" y="1390650"/>
            <a:ext cx="7781925" cy="342900"/>
          </a:xfrm>
          <a:prstGeom prst="rect">
            <a:avLst/>
          </a:prstGeom>
          <a:noFill/>
          <a:ln/>
        </p:spPr>
        <p:txBody>
          <a:bodyPr wrap="square" rtlCol="0" anchor="ctr"/>
          <a:lstStyle/>
          <a:p>
            <a:pPr algn="l" indent="0" marL="0">
              <a:lnSpc>
                <a:spcPts val="2700"/>
              </a:lnSpc>
              <a:buNone/>
            </a:pPr>
            <a:r>
              <a:rPr lang="en-US" sz="1800" spc="-40" kern="0" dirty="0">
                <a:solidFill>
                  <a:srgbClr val="000000">
                    <a:alpha val="99000"/>
                  </a:srgbClr>
                </a:solidFill>
                <a:latin typeface="Inter" pitchFamily="34" charset="0"/>
                <a:ea typeface="Inter" pitchFamily="34" charset="-122"/>
                <a:cs typeface="Inter" pitchFamily="34" charset="-120"/>
              </a:rPr>
              <a:t>All samplers aim to </a:t>
            </a:r>
            <a:pPr algn="l" indent="0" marL="0">
              <a:lnSpc>
                <a:spcPts val="2700"/>
              </a:lnSpc>
              <a:buNone/>
            </a:pPr>
            <a:r>
              <a:rPr lang="en-US" sz="1800" b="1" spc="-40" kern="0" dirty="0">
                <a:solidFill>
                  <a:srgbClr val="000000">
                    <a:alpha val="99000"/>
                  </a:srgbClr>
                </a:solidFill>
                <a:latin typeface="Inter" pitchFamily="34" charset="0"/>
                <a:ea typeface="Inter" pitchFamily="34" charset="-122"/>
                <a:cs typeface="Inter" pitchFamily="34" charset="-120"/>
              </a:rPr>
              <a:t>solve the class imbalance</a:t>
            </a:r>
            <a:pPr algn="l" indent="0" marL="0">
              <a:lnSpc>
                <a:spcPts val="2700"/>
              </a:lnSpc>
              <a:buNone/>
            </a:pPr>
            <a:r>
              <a:rPr lang="en-US" sz="1800" spc="-40" kern="0" dirty="0">
                <a:solidFill>
                  <a:srgbClr val="000000">
                    <a:alpha val="99000"/>
                  </a:srgbClr>
                </a:solidFill>
                <a:latin typeface="Inter" pitchFamily="34" charset="0"/>
                <a:ea typeface="Inter" pitchFamily="34" charset="-122"/>
                <a:cs typeface="Inter" pitchFamily="34" charset="-120"/>
              </a:rPr>
              <a:t> in fraud detection, but ...</a:t>
            </a:r>
            <a:endParaRPr lang="en-US" sz="1800" dirty="0"/>
          </a:p>
        </p:txBody>
      </p:sp>
      <p:sp>
        <p:nvSpPr>
          <p:cNvPr id="10" name="Text 5"/>
          <p:cNvSpPr/>
          <p:nvPr/>
        </p:nvSpPr>
        <p:spPr>
          <a:xfrm>
            <a:off x="2957513" y="2805113"/>
            <a:ext cx="5705475" cy="857250"/>
          </a:xfrm>
          <a:prstGeom prst="rect">
            <a:avLst/>
          </a:prstGeom>
          <a:noFill/>
          <a:ln/>
        </p:spPr>
        <p:txBody>
          <a:bodyPr wrap="square" rtlCol="0" anchor="ctr"/>
          <a:lstStyle/>
          <a:p>
            <a:pPr algn="l" marL="342900" indent="-342900">
              <a:lnSpc>
                <a:spcPts val="2250"/>
              </a:lnSpc>
              <a:buSzPct val="100000"/>
              <a:buChar char="•"/>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The simplest to apply  </a:t>
            </a:r>
            <a:endParaRPr lang="en-US" sz="1500" dirty="0"/>
          </a:p>
          <a:p>
            <a:pPr algn="l" marL="342900" indent="-342900">
              <a:lnSpc>
                <a:spcPts val="2250"/>
              </a:lnSpc>
              <a:buSzPct val="100000"/>
              <a:buChar char="•"/>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Computationally efficient  </a:t>
            </a:r>
            <a:endParaRPr lang="en-US" sz="1500" dirty="0"/>
          </a:p>
          <a:p>
            <a:pPr algn="l" marL="342900" indent="-342900">
              <a:lnSpc>
                <a:spcPts val="2250"/>
              </a:lnSpc>
              <a:buSzPct val="100000"/>
              <a:buChar char="•"/>
            </a:pPr>
            <a:r>
              <a:rPr lang="en-US" sz="1500" spc="105" kern="0" dirty="0">
                <a:solidFill>
                  <a:srgbClr val="000000">
                    <a:alpha val="99000"/>
                  </a:srgbClr>
                </a:solidFill>
                <a:latin typeface="Plus Jakarta Sans" pitchFamily="34" charset="0"/>
                <a:ea typeface="Plus Jakarta Sans" pitchFamily="34" charset="-122"/>
                <a:cs typeface="Plus Jakarta Sans" pitchFamily="34" charset="-120"/>
              </a:rPr>
              <a:t>The best-performing method in our evaluation</a:t>
            </a:r>
            <a:endParaRPr lang="en-US" sz="1500" dirty="0"/>
          </a:p>
        </p:txBody>
      </p:sp>
      <p:sp>
        <p:nvSpPr>
          <p:cNvPr id="11" name="Text 6"/>
          <p:cNvSpPr/>
          <p:nvPr/>
        </p:nvSpPr>
        <p:spPr>
          <a:xfrm>
            <a:off x="3114675" y="4048125"/>
            <a:ext cx="4419600" cy="757238"/>
          </a:xfrm>
          <a:prstGeom prst="rect">
            <a:avLst/>
          </a:prstGeom>
          <a:noFill/>
          <a:ln/>
        </p:spPr>
        <p:txBody>
          <a:bodyPr wrap="square" rtlCol="0" anchor="ctr"/>
          <a:lstStyle/>
          <a:p>
            <a:pPr algn="l" indent="0" marL="0">
              <a:lnSpc>
                <a:spcPts val="198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 ZINDI Score(AUC) : 0.82</a:t>
            </a:r>
            <a:endParaRPr lang="en-US" sz="1800" dirty="0"/>
          </a:p>
          <a:p>
            <a:pPr algn="l" indent="0" marL="0">
              <a:lnSpc>
                <a:spcPts val="1980"/>
              </a:lnSpc>
              <a:buNone/>
            </a:pPr>
            <a:r>
              <a:rPr lang="en-US" sz="1800" b="1" spc="-40" kern="0" dirty="0">
                <a:solidFill>
                  <a:srgbClr val="000000">
                    <a:alpha val="99000"/>
                  </a:srgbClr>
                </a:solidFill>
                <a:latin typeface="Plus Jakarta Sans" pitchFamily="34" charset="0"/>
                <a:ea typeface="Plus Jakarta Sans" pitchFamily="34" charset="-122"/>
                <a:cs typeface="Plus Jakarta Sans" pitchFamily="34" charset="-120"/>
              </a:rPr>
              <a:t>                        Ranking             : 219</a:t>
            </a:r>
            <a:pPr algn="l" indent="0" marL="0">
              <a:lnSpc>
                <a:spcPts val="198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/595</a:t>
            </a:r>
            <a:endParaRPr lang="en-US" sz="1800" dirty="0"/>
          </a:p>
        </p:txBody>
      </p:sp>
      <p:sp>
        <p:nvSpPr>
          <p:cNvPr id="12" name="Text 7"/>
          <p:cNvSpPr/>
          <p:nvPr/>
        </p:nvSpPr>
        <p:spPr>
          <a:xfrm>
            <a:off x="8758238" y="4491038"/>
            <a:ext cx="6429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18</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5F1E9"/>
          </a:solidFill>
          <a:ln/>
        </p:spPr>
      </p:sp>
      <p:sp>
        <p:nvSpPr>
          <p:cNvPr id="3"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4"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5"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6" name="Text 4"/>
          <p:cNvSpPr/>
          <p:nvPr/>
        </p:nvSpPr>
        <p:spPr>
          <a:xfrm>
            <a:off x="8758238" y="4491038"/>
            <a:ext cx="6429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18</a:t>
            </a:r>
            <a:endParaRPr lang="en-US" sz="1350" dirty="0"/>
          </a:p>
        </p:txBody>
      </p:sp>
      <p:sp>
        <p:nvSpPr>
          <p:cNvPr id="7" name="Text 5"/>
          <p:cNvSpPr/>
          <p:nvPr/>
        </p:nvSpPr>
        <p:spPr>
          <a:xfrm>
            <a:off x="3957638" y="1385888"/>
            <a:ext cx="5343525" cy="3667125"/>
          </a:xfrm>
          <a:prstGeom prst="rect">
            <a:avLst/>
          </a:prstGeom>
          <a:noFill/>
          <a:ln/>
        </p:spPr>
        <p:txBody>
          <a:bodyPr wrap="square" rtlCol="0" anchor="ctr"/>
          <a:lstStyle/>
          <a:p>
            <a:pPr algn="r" indent="0" marL="0">
              <a:lnSpc>
                <a:spcPts val="28875"/>
              </a:lnSpc>
              <a:buNone/>
            </a:pPr>
            <a:r>
              <a:rPr lang="en-US" sz="26250" spc="-1312" kern="0" dirty="0">
                <a:solidFill>
                  <a:srgbClr val="000000">
                    <a:alpha val="99000"/>
                  </a:srgbClr>
                </a:solidFill>
                <a:latin typeface="Plus Jakarta Sans" pitchFamily="34" charset="0"/>
                <a:ea typeface="Plus Jakarta Sans" pitchFamily="34" charset="-122"/>
                <a:cs typeface="Plus Jakarta Sans" pitchFamily="34" charset="-120"/>
              </a:rPr>
              <a:t>03</a:t>
            </a:r>
            <a:endParaRPr lang="en-US" sz="26250" dirty="0"/>
          </a:p>
        </p:txBody>
      </p:sp>
      <p:sp>
        <p:nvSpPr>
          <p:cNvPr id="8" name="Text 6"/>
          <p:cNvSpPr/>
          <p:nvPr/>
        </p:nvSpPr>
        <p:spPr>
          <a:xfrm>
            <a:off x="742950" y="1047750"/>
            <a:ext cx="4829175" cy="785813"/>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Final Result</a:t>
            </a:r>
            <a:endParaRPr lang="en-US" sz="56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pic>
        <p:nvPicPr>
          <p:cNvPr id="4" name="Image 0" descr="preencoded.png">    </p:cNvPr>
          <p:cNvPicPr>
            <a:picLocks noChangeAspect="1"/>
          </p:cNvPicPr>
          <p:nvPr/>
        </p:nvPicPr>
        <p:blipFill>
          <a:blip r:embed="rId1"/>
          <a:stretch>
            <a:fillRect/>
          </a:stretch>
        </p:blipFill>
        <p:spPr>
          <a:xfrm>
            <a:off x="5986463" y="1147763"/>
            <a:ext cx="1676400" cy="560483"/>
          </a:xfrm>
          <a:prstGeom prst="rect">
            <a:avLst/>
          </a:prstGeom>
        </p:spPr>
      </p:pic>
      <p:pic>
        <p:nvPicPr>
          <p:cNvPr id="5" name="Image 1" descr="preencoded.png">    </p:cNvPr>
          <p:cNvPicPr>
            <a:picLocks noChangeAspect="1"/>
          </p:cNvPicPr>
          <p:nvPr/>
        </p:nvPicPr>
        <p:blipFill>
          <a:blip r:embed="rId2"/>
          <a:stretch>
            <a:fillRect/>
          </a:stretch>
        </p:blipFill>
        <p:spPr>
          <a:xfrm>
            <a:off x="5986463" y="1976438"/>
            <a:ext cx="1651155" cy="666521"/>
          </a:xfrm>
          <a:prstGeom prst="rect">
            <a:avLst/>
          </a:prstGeom>
        </p:spPr>
      </p:pic>
      <p:pic>
        <p:nvPicPr>
          <p:cNvPr id="6" name="Image 2" descr="preencoded.png">    </p:cNvPr>
          <p:cNvPicPr>
            <a:picLocks noChangeAspect="1"/>
          </p:cNvPicPr>
          <p:nvPr/>
        </p:nvPicPr>
        <p:blipFill>
          <a:blip r:embed="rId3"/>
          <a:stretch>
            <a:fillRect/>
          </a:stretch>
        </p:blipFill>
        <p:spPr>
          <a:xfrm>
            <a:off x="6810375" y="1766888"/>
            <a:ext cx="93055" cy="215844"/>
          </a:xfrm>
          <a:prstGeom prst="rect">
            <a:avLst/>
          </a:prstGeom>
        </p:spPr>
      </p:pic>
      <p:pic>
        <p:nvPicPr>
          <p:cNvPr id="7" name="Image 3" descr="preencoded.png">    </p:cNvPr>
          <p:cNvPicPr>
            <a:picLocks noChangeAspect="1"/>
          </p:cNvPicPr>
          <p:nvPr/>
        </p:nvPicPr>
        <p:blipFill>
          <a:blip r:embed="rId4"/>
          <a:stretch>
            <a:fillRect/>
          </a:stretch>
        </p:blipFill>
        <p:spPr>
          <a:xfrm>
            <a:off x="3948112" y="1147763"/>
            <a:ext cx="1676400" cy="560483"/>
          </a:xfrm>
          <a:prstGeom prst="rect">
            <a:avLst/>
          </a:prstGeom>
        </p:spPr>
      </p:pic>
      <p:pic>
        <p:nvPicPr>
          <p:cNvPr id="8" name="Image 4" descr="preencoded.png">    </p:cNvPr>
          <p:cNvPicPr>
            <a:picLocks noChangeAspect="1"/>
          </p:cNvPicPr>
          <p:nvPr/>
        </p:nvPicPr>
        <p:blipFill>
          <a:blip r:embed="rId5"/>
          <a:stretch>
            <a:fillRect/>
          </a:stretch>
        </p:blipFill>
        <p:spPr>
          <a:xfrm>
            <a:off x="3948112" y="2800350"/>
            <a:ext cx="1651155" cy="666521"/>
          </a:xfrm>
          <a:prstGeom prst="rect">
            <a:avLst/>
          </a:prstGeom>
        </p:spPr>
      </p:pic>
      <p:pic>
        <p:nvPicPr>
          <p:cNvPr id="9" name="Image 5" descr="preencoded.png">    </p:cNvPr>
          <p:cNvPicPr>
            <a:picLocks noChangeAspect="1"/>
          </p:cNvPicPr>
          <p:nvPr/>
        </p:nvPicPr>
        <p:blipFill>
          <a:blip r:embed="rId6"/>
          <a:stretch>
            <a:fillRect/>
          </a:stretch>
        </p:blipFill>
        <p:spPr>
          <a:xfrm>
            <a:off x="4772025" y="1766888"/>
            <a:ext cx="93055" cy="1039780"/>
          </a:xfrm>
          <a:prstGeom prst="rect">
            <a:avLst/>
          </a:prstGeom>
        </p:spPr>
      </p:pic>
      <p:pic>
        <p:nvPicPr>
          <p:cNvPr id="10" name="Image 6" descr="preencoded.png">    </p:cNvPr>
          <p:cNvPicPr>
            <a:picLocks noChangeAspect="1"/>
          </p:cNvPicPr>
          <p:nvPr/>
        </p:nvPicPr>
        <p:blipFill>
          <a:blip r:embed="rId7"/>
          <a:stretch>
            <a:fillRect/>
          </a:stretch>
        </p:blipFill>
        <p:spPr>
          <a:xfrm>
            <a:off x="3948112" y="1976438"/>
            <a:ext cx="1651155" cy="666521"/>
          </a:xfrm>
          <a:prstGeom prst="rect">
            <a:avLst/>
          </a:prstGeom>
        </p:spPr>
      </p:pic>
      <p:sp>
        <p:nvSpPr>
          <p:cNvPr id="11"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2"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3"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4" name="Text 4"/>
          <p:cNvSpPr/>
          <p:nvPr/>
        </p:nvSpPr>
        <p:spPr>
          <a:xfrm>
            <a:off x="447675" y="395288"/>
            <a:ext cx="10696327" cy="485775"/>
          </a:xfrm>
          <a:prstGeom prst="rect">
            <a:avLst/>
          </a:prstGeom>
          <a:noFill/>
          <a:ln/>
        </p:spPr>
        <p:txBody>
          <a:bodyPr wrap="square" rtlCol="0" anchor="ctr"/>
          <a:lstStyle/>
          <a:p>
            <a:pPr algn="l" indent="0" marL="0">
              <a:lnSpc>
                <a:spcPts val="3825"/>
              </a:lnSpc>
              <a:buNone/>
            </a:pPr>
            <a:r>
              <a:rPr lang="en-US" sz="3477" spc="-77" kern="0" dirty="0">
                <a:solidFill>
                  <a:srgbClr val="000000">
                    <a:alpha val="99000"/>
                  </a:srgbClr>
                </a:solidFill>
                <a:latin typeface="Plus Jakarta Sans" pitchFamily="34" charset="0"/>
                <a:ea typeface="Plus Jakarta Sans" pitchFamily="34" charset="-122"/>
                <a:cs typeface="Plus Jakarta Sans" pitchFamily="34" charset="-120"/>
              </a:rPr>
              <a:t>Final Zindi Score</a:t>
            </a:r>
            <a:endParaRPr lang="en-US" sz="3477" dirty="0"/>
          </a:p>
        </p:txBody>
      </p:sp>
      <p:sp>
        <p:nvSpPr>
          <p:cNvPr id="15" name="Text 5"/>
          <p:cNvSpPr/>
          <p:nvPr/>
        </p:nvSpPr>
        <p:spPr>
          <a:xfrm>
            <a:off x="6443663" y="3805237"/>
            <a:ext cx="1281112" cy="857250"/>
          </a:xfrm>
          <a:prstGeom prst="rect">
            <a:avLst/>
          </a:prstGeom>
          <a:noFill/>
          <a:ln/>
        </p:spPr>
        <p:txBody>
          <a:bodyPr wrap="square" rtlCol="0" anchor="ctr"/>
          <a:lstStyle/>
          <a:p>
            <a:pPr algn="ct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219</a:t>
            </a:r>
            <a:endParaRPr lang="en-US" sz="1500" dirty="0"/>
          </a:p>
          <a:p>
            <a:pPr algn="ct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0.82</a:t>
            </a:r>
            <a:endParaRPr lang="en-US" sz="1500" dirty="0"/>
          </a:p>
        </p:txBody>
      </p:sp>
      <p:sp>
        <p:nvSpPr>
          <p:cNvPr id="16" name="Text 6"/>
          <p:cNvSpPr/>
          <p:nvPr/>
        </p:nvSpPr>
        <p:spPr>
          <a:xfrm>
            <a:off x="4391025" y="3829050"/>
            <a:ext cx="1281112" cy="857250"/>
          </a:xfrm>
          <a:prstGeom prst="rect">
            <a:avLst/>
          </a:prstGeom>
          <a:noFill/>
          <a:ln/>
        </p:spPr>
        <p:txBody>
          <a:bodyPr wrap="square" rtlCol="0" anchor="ctr"/>
          <a:lstStyle/>
          <a:p>
            <a:pPr algn="ct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193</a:t>
            </a:r>
            <a:endParaRPr lang="en-US" sz="1500" dirty="0"/>
          </a:p>
          <a:p>
            <a:pPr algn="ct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0.83</a:t>
            </a:r>
            <a:endParaRPr lang="en-US" sz="1500" dirty="0"/>
          </a:p>
        </p:txBody>
      </p:sp>
      <p:sp>
        <p:nvSpPr>
          <p:cNvPr id="17" name="Text 7"/>
          <p:cNvSpPr/>
          <p:nvPr/>
        </p:nvSpPr>
        <p:spPr>
          <a:xfrm>
            <a:off x="1919288" y="3824288"/>
            <a:ext cx="2309813" cy="857250"/>
          </a:xfrm>
          <a:prstGeom prst="rect">
            <a:avLst/>
          </a:prstGeom>
          <a:noFill/>
          <a:ln/>
        </p:spPr>
        <p:txBody>
          <a:bodyPr wrap="square" rtlCol="0" anchor="ctr"/>
          <a:lstStyle/>
          <a:p>
            <a:pPr algn="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Zindi Ranking</a:t>
            </a:r>
            <a:endParaRPr lang="en-US" sz="1500" dirty="0"/>
          </a:p>
          <a:p>
            <a:pPr algn="r" indent="0" marL="0">
              <a:lnSpc>
                <a:spcPts val="2250"/>
              </a:lnSpc>
              <a:buNone/>
            </a:pPr>
            <a:r>
              <a:rPr lang="en-US" sz="1500" b="1" spc="60" kern="0" dirty="0">
                <a:solidFill>
                  <a:srgbClr val="000000">
                    <a:alpha val="99000"/>
                  </a:srgbClr>
                </a:solidFill>
                <a:latin typeface="Plus Jakarta Sans" pitchFamily="34" charset="0"/>
                <a:ea typeface="Plus Jakarta Sans" pitchFamily="34" charset="-122"/>
                <a:cs typeface="Plus Jakarta Sans" pitchFamily="34" charset="-120"/>
              </a:rPr>
              <a:t>Zindi Score(AUC)</a:t>
            </a:r>
            <a:endParaRPr lang="en-US" sz="1500" dirty="0"/>
          </a:p>
        </p:txBody>
      </p:sp>
      <p:sp>
        <p:nvSpPr>
          <p:cNvPr id="18" name="Text 8"/>
          <p:cNvSpPr/>
          <p:nvPr/>
        </p:nvSpPr>
        <p:spPr>
          <a:xfrm>
            <a:off x="8758238" y="4491038"/>
            <a:ext cx="64293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19</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pic>
        <p:nvPicPr>
          <p:cNvPr id="4" name="Image 0" descr="preencoded.png">    </p:cNvPr>
          <p:cNvPicPr>
            <a:picLocks noChangeAspect="1"/>
          </p:cNvPicPr>
          <p:nvPr/>
        </p:nvPicPr>
        <p:blipFill>
          <a:blip r:embed="rId1"/>
          <a:stretch>
            <a:fillRect/>
          </a:stretch>
        </p:blipFill>
        <p:spPr>
          <a:xfrm>
            <a:off x="3948112" y="1147763"/>
            <a:ext cx="1676400" cy="560483"/>
          </a:xfrm>
          <a:prstGeom prst="rect">
            <a:avLst/>
          </a:prstGeom>
        </p:spPr>
      </p:pic>
      <p:pic>
        <p:nvPicPr>
          <p:cNvPr id="5" name="Image 1" descr="preencoded.png">    </p:cNvPr>
          <p:cNvPicPr>
            <a:picLocks noChangeAspect="1"/>
          </p:cNvPicPr>
          <p:nvPr/>
        </p:nvPicPr>
        <p:blipFill>
          <a:blip r:embed="rId2"/>
          <a:stretch>
            <a:fillRect/>
          </a:stretch>
        </p:blipFill>
        <p:spPr>
          <a:xfrm>
            <a:off x="3948112" y="2800350"/>
            <a:ext cx="1651153" cy="666521"/>
          </a:xfrm>
          <a:prstGeom prst="rect">
            <a:avLst/>
          </a:prstGeom>
        </p:spPr>
      </p:pic>
      <p:pic>
        <p:nvPicPr>
          <p:cNvPr id="6" name="Image 2" descr="preencoded.png">    </p:cNvPr>
          <p:cNvPicPr>
            <a:picLocks noChangeAspect="1"/>
          </p:cNvPicPr>
          <p:nvPr/>
        </p:nvPicPr>
        <p:blipFill>
          <a:blip r:embed="rId3"/>
          <a:stretch>
            <a:fillRect/>
          </a:stretch>
        </p:blipFill>
        <p:spPr>
          <a:xfrm>
            <a:off x="4772025" y="1766888"/>
            <a:ext cx="93048" cy="1039780"/>
          </a:xfrm>
          <a:prstGeom prst="rect">
            <a:avLst/>
          </a:prstGeom>
        </p:spPr>
      </p:pic>
      <p:pic>
        <p:nvPicPr>
          <p:cNvPr id="7" name="Image 3" descr="preencoded.png">    </p:cNvPr>
          <p:cNvPicPr>
            <a:picLocks noChangeAspect="1"/>
          </p:cNvPicPr>
          <p:nvPr/>
        </p:nvPicPr>
        <p:blipFill>
          <a:blip r:embed="rId4"/>
          <a:stretch>
            <a:fillRect/>
          </a:stretch>
        </p:blipFill>
        <p:spPr>
          <a:xfrm>
            <a:off x="3948112" y="1976438"/>
            <a:ext cx="1651153" cy="666521"/>
          </a:xfrm>
          <a:prstGeom prst="rect">
            <a:avLst/>
          </a:prstGeom>
        </p:spPr>
      </p:pic>
      <p:sp>
        <p:nvSpPr>
          <p:cNvPr id="8"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9"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0"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1" name="Text 4"/>
          <p:cNvSpPr/>
          <p:nvPr/>
        </p:nvSpPr>
        <p:spPr>
          <a:xfrm>
            <a:off x="447675" y="395288"/>
            <a:ext cx="10696327" cy="485775"/>
          </a:xfrm>
          <a:prstGeom prst="rect">
            <a:avLst/>
          </a:prstGeom>
          <a:noFill/>
          <a:ln/>
        </p:spPr>
        <p:txBody>
          <a:bodyPr wrap="square" rtlCol="0" anchor="ctr"/>
          <a:lstStyle/>
          <a:p>
            <a:pPr algn="l" indent="0" marL="0">
              <a:lnSpc>
                <a:spcPts val="3825"/>
              </a:lnSpc>
              <a:buNone/>
            </a:pPr>
            <a:r>
              <a:rPr lang="en-US" sz="3477" spc="-77" kern="0" dirty="0">
                <a:solidFill>
                  <a:srgbClr val="000000">
                    <a:alpha val="99000"/>
                  </a:srgbClr>
                </a:solidFill>
                <a:latin typeface="Plus Jakarta Sans" pitchFamily="34" charset="0"/>
                <a:ea typeface="Plus Jakarta Sans" pitchFamily="34" charset="-122"/>
                <a:cs typeface="Plus Jakarta Sans" pitchFamily="34" charset="-120"/>
              </a:rPr>
              <a:t>Improvement</a:t>
            </a:r>
            <a:endParaRPr lang="en-US" sz="3477" dirty="0"/>
          </a:p>
        </p:txBody>
      </p:sp>
      <p:sp>
        <p:nvSpPr>
          <p:cNvPr id="12" name="Text 5"/>
          <p:cNvSpPr/>
          <p:nvPr/>
        </p:nvSpPr>
        <p:spPr>
          <a:xfrm>
            <a:off x="8758238" y="4491038"/>
            <a:ext cx="666750"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20</a:t>
            </a:r>
            <a:endParaRPr lang="en-US" sz="1350" dirty="0"/>
          </a:p>
        </p:txBody>
      </p:sp>
      <p:sp>
        <p:nvSpPr>
          <p:cNvPr id="13" name="Text 6"/>
          <p:cNvSpPr/>
          <p:nvPr/>
        </p:nvSpPr>
        <p:spPr>
          <a:xfrm>
            <a:off x="852488" y="2886075"/>
            <a:ext cx="3333750" cy="57150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Combine &amp; Rank features</a:t>
            </a:r>
            <a:endParaRPr lang="en-US" sz="1500" dirty="0"/>
          </a:p>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 Add 3rd party data</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90488" y="238125"/>
            <a:ext cx="8963025" cy="4814888"/>
          </a:xfrm>
          <a:prstGeom prst="rect">
            <a:avLst/>
          </a:prstGeom>
        </p:spPr>
      </p:pic>
      <p:sp>
        <p:nvSpPr>
          <p:cNvPr id="4" name="Text 0"/>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5" name="Text 1"/>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6" name="Text 2"/>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7" name="Text 3"/>
          <p:cNvSpPr/>
          <p:nvPr/>
        </p:nvSpPr>
        <p:spPr>
          <a:xfrm>
            <a:off x="447675" y="509587"/>
            <a:ext cx="11399012" cy="519113"/>
          </a:xfrm>
          <a:prstGeom prst="rect">
            <a:avLst/>
          </a:prstGeom>
          <a:noFill/>
          <a:ln/>
        </p:spPr>
        <p:txBody>
          <a:bodyPr wrap="square" rtlCol="0" anchor="ctr"/>
          <a:lstStyle/>
          <a:p>
            <a:pPr algn="l" indent="0" marL="0">
              <a:lnSpc>
                <a:spcPts val="4088"/>
              </a:lnSpc>
              <a:buNone/>
            </a:pPr>
            <a:r>
              <a:rPr lang="en-US" sz="3716" spc="-82" kern="0" dirty="0">
                <a:solidFill>
                  <a:srgbClr val="000000">
                    <a:alpha val="99000"/>
                  </a:srgbClr>
                </a:solidFill>
                <a:latin typeface="Plus Jakarta Sans" pitchFamily="34" charset="0"/>
                <a:ea typeface="Plus Jakarta Sans" pitchFamily="34" charset="-122"/>
                <a:cs typeface="Plus Jakarta Sans" pitchFamily="34" charset="-120"/>
              </a:rPr>
              <a:t>Key Business Insights</a:t>
            </a:r>
            <a:endParaRPr lang="en-US" sz="3716" dirty="0"/>
          </a:p>
        </p:txBody>
      </p:sp>
      <p:sp>
        <p:nvSpPr>
          <p:cNvPr id="8" name="Text 4"/>
          <p:cNvSpPr/>
          <p:nvPr/>
        </p:nvSpPr>
        <p:spPr>
          <a:xfrm>
            <a:off x="482445" y="3238500"/>
            <a:ext cx="6020912" cy="481012"/>
          </a:xfrm>
          <a:prstGeom prst="rect">
            <a:avLst/>
          </a:prstGeom>
          <a:noFill/>
          <a:ln/>
        </p:spPr>
        <p:txBody>
          <a:bodyPr wrap="square" rtlCol="0" anchor="ctr"/>
          <a:lstStyle/>
          <a:p>
            <a:pPr algn="l" marL="342900" indent="-342900">
              <a:lnSpc>
                <a:spcPts val="3788"/>
              </a:lnSpc>
              <a:buSzPct val="100000"/>
              <a:buFont typeface="+mj-lt"/>
              <a:buAutoNum type="arabicPeriod" startAt="1"/>
            </a:pPr>
            <a:r>
              <a:rPr lang="en-US" sz="2525" spc="177" kern="0" dirty="0">
                <a:solidFill>
                  <a:srgbClr val="000000">
                    <a:alpha val="99000"/>
                  </a:srgbClr>
                </a:solidFill>
                <a:latin typeface="Plus Jakarta Sans" pitchFamily="34" charset="0"/>
                <a:ea typeface="Plus Jakarta Sans" pitchFamily="34" charset="-122"/>
                <a:cs typeface="Plus Jakarta Sans" pitchFamily="34" charset="-120"/>
              </a:rPr>
              <a:t>Number of counter changes </a:t>
            </a:r>
            <a:endParaRPr lang="en-US" sz="2525" dirty="0"/>
          </a:p>
        </p:txBody>
      </p:sp>
      <p:sp>
        <p:nvSpPr>
          <p:cNvPr id="9" name="Text 5"/>
          <p:cNvSpPr/>
          <p:nvPr/>
        </p:nvSpPr>
        <p:spPr>
          <a:xfrm>
            <a:off x="485775" y="2009775"/>
            <a:ext cx="6020912" cy="481012"/>
          </a:xfrm>
          <a:prstGeom prst="rect">
            <a:avLst/>
          </a:prstGeom>
          <a:noFill/>
          <a:ln/>
        </p:spPr>
        <p:txBody>
          <a:bodyPr wrap="square" rtlCol="0" anchor="ctr"/>
          <a:lstStyle/>
          <a:p>
            <a:pPr algn="l" marL="342900" indent="-342900">
              <a:lnSpc>
                <a:spcPts val="3788"/>
              </a:lnSpc>
              <a:buSzPct val="100000"/>
              <a:buFont typeface="+mj-lt"/>
              <a:buAutoNum type="arabicPeriod" startAt="1"/>
            </a:pPr>
            <a:r>
              <a:rPr lang="en-US" sz="2525" spc="177" kern="0" dirty="0">
                <a:solidFill>
                  <a:srgbClr val="000000">
                    <a:alpha val="99000"/>
                  </a:srgbClr>
                </a:solidFill>
                <a:latin typeface="Plus Jakarta Sans" pitchFamily="34" charset="0"/>
                <a:ea typeface="Plus Jakarta Sans" pitchFamily="34" charset="-122"/>
                <a:cs typeface="Plus Jakarta Sans" pitchFamily="34" charset="-120"/>
              </a:rPr>
              <a:t>Client Category</a:t>
            </a:r>
            <a:endParaRPr lang="en-US" sz="2525" dirty="0"/>
          </a:p>
        </p:txBody>
      </p:sp>
      <p:sp>
        <p:nvSpPr>
          <p:cNvPr id="10" name="Text 6"/>
          <p:cNvSpPr/>
          <p:nvPr/>
        </p:nvSpPr>
        <p:spPr>
          <a:xfrm>
            <a:off x="481012" y="3843338"/>
            <a:ext cx="6020912" cy="481012"/>
          </a:xfrm>
          <a:prstGeom prst="rect">
            <a:avLst/>
          </a:prstGeom>
          <a:noFill/>
          <a:ln/>
        </p:spPr>
        <p:txBody>
          <a:bodyPr wrap="square" rtlCol="0" anchor="ctr"/>
          <a:lstStyle/>
          <a:p>
            <a:pPr algn="l" marL="342900" indent="-342900">
              <a:lnSpc>
                <a:spcPts val="3788"/>
              </a:lnSpc>
              <a:buSzPct val="100000"/>
              <a:buFont typeface="+mj-lt"/>
              <a:buAutoNum type="arabicPeriod" startAt="1"/>
            </a:pPr>
            <a:r>
              <a:rPr lang="en-US" sz="2525" spc="177" kern="0" dirty="0">
                <a:solidFill>
                  <a:srgbClr val="000000">
                    <a:alpha val="99000"/>
                  </a:srgbClr>
                </a:solidFill>
                <a:latin typeface="Plus Jakarta Sans" pitchFamily="34" charset="0"/>
                <a:ea typeface="Plus Jakarta Sans" pitchFamily="34" charset="-122"/>
                <a:cs typeface="Plus Jakarta Sans" pitchFamily="34" charset="-120"/>
              </a:rPr>
              <a:t>Tarif Type</a:t>
            </a:r>
            <a:endParaRPr lang="en-US" sz="2525" dirty="0"/>
          </a:p>
        </p:txBody>
      </p:sp>
      <p:sp>
        <p:nvSpPr>
          <p:cNvPr id="11" name="Text 7"/>
          <p:cNvSpPr/>
          <p:nvPr/>
        </p:nvSpPr>
        <p:spPr>
          <a:xfrm>
            <a:off x="481012" y="2633663"/>
            <a:ext cx="8315325" cy="481012"/>
          </a:xfrm>
          <a:prstGeom prst="rect">
            <a:avLst/>
          </a:prstGeom>
          <a:noFill/>
          <a:ln/>
        </p:spPr>
        <p:txBody>
          <a:bodyPr wrap="square" rtlCol="0" anchor="ctr"/>
          <a:lstStyle/>
          <a:p>
            <a:pPr algn="l" marL="342900" indent="-342900">
              <a:lnSpc>
                <a:spcPts val="3788"/>
              </a:lnSpc>
              <a:buSzPct val="100000"/>
              <a:buFont typeface="+mj-lt"/>
              <a:buAutoNum type="arabicPeriod" startAt="1"/>
            </a:pPr>
            <a:r>
              <a:rPr lang="en-US" sz="2525" spc="177" kern="0" dirty="0">
                <a:solidFill>
                  <a:srgbClr val="000000">
                    <a:alpha val="99000"/>
                  </a:srgbClr>
                </a:solidFill>
                <a:latin typeface="Plus Jakarta Sans" pitchFamily="34" charset="0"/>
                <a:ea typeface="Plus Jakarta Sans" pitchFamily="34" charset="-122"/>
                <a:cs typeface="Plus Jakarta Sans" pitchFamily="34" charset="-120"/>
              </a:rPr>
              <a:t>Service Remark : Frequency &amp; Length</a:t>
            </a:r>
            <a:endParaRPr lang="en-US" sz="2525" dirty="0"/>
          </a:p>
        </p:txBody>
      </p:sp>
      <p:sp>
        <p:nvSpPr>
          <p:cNvPr id="12" name="Text 8"/>
          <p:cNvSpPr/>
          <p:nvPr/>
        </p:nvSpPr>
        <p:spPr>
          <a:xfrm>
            <a:off x="8758238" y="4491038"/>
            <a:ext cx="638175"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21</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376238" y="659606"/>
            <a:ext cx="5048250" cy="542925"/>
          </a:xfrm>
          <a:prstGeom prst="rect">
            <a:avLst/>
          </a:prstGeom>
          <a:noFill/>
          <a:ln/>
        </p:spPr>
      </p:sp>
      <p:pic>
        <p:nvPicPr>
          <p:cNvPr id="4" name="Image 0" descr="preencoded.png">    </p:cNvPr>
          <p:cNvPicPr>
            <a:picLocks noChangeAspect="1"/>
          </p:cNvPicPr>
          <p:nvPr/>
        </p:nvPicPr>
        <p:blipFill>
          <a:blip r:embed="rId1"/>
          <a:stretch>
            <a:fillRect/>
          </a:stretch>
        </p:blipFill>
        <p:spPr>
          <a:xfrm>
            <a:off x="2238375" y="1690688"/>
            <a:ext cx="1214438" cy="1214438"/>
          </a:xfrm>
          <a:prstGeom prst="rect">
            <a:avLst/>
          </a:prstGeom>
        </p:spPr>
      </p:pic>
      <p:pic>
        <p:nvPicPr>
          <p:cNvPr id="5" name="Image 1" descr="preencoded.png">    </p:cNvPr>
          <p:cNvPicPr>
            <a:picLocks noChangeAspect="1"/>
          </p:cNvPicPr>
          <p:nvPr/>
        </p:nvPicPr>
        <p:blipFill>
          <a:blip r:embed="rId2"/>
          <a:stretch>
            <a:fillRect/>
          </a:stretch>
        </p:blipFill>
        <p:spPr>
          <a:xfrm>
            <a:off x="323850" y="1662113"/>
            <a:ext cx="1204913" cy="1204913"/>
          </a:xfrm>
          <a:prstGeom prst="rect">
            <a:avLst/>
          </a:prstGeom>
        </p:spPr>
      </p:pic>
      <p:pic>
        <p:nvPicPr>
          <p:cNvPr id="6" name="Image 2" descr="preencoded.png">    </p:cNvPr>
          <p:cNvPicPr>
            <a:picLocks noChangeAspect="1"/>
          </p:cNvPicPr>
          <p:nvPr/>
        </p:nvPicPr>
        <p:blipFill>
          <a:blip r:embed="rId3"/>
          <a:stretch>
            <a:fillRect/>
          </a:stretch>
        </p:blipFill>
        <p:spPr>
          <a:xfrm>
            <a:off x="4090987" y="1600200"/>
            <a:ext cx="1447800" cy="1447800"/>
          </a:xfrm>
          <a:prstGeom prst="rect">
            <a:avLst/>
          </a:prstGeom>
        </p:spPr>
      </p:pic>
      <p:pic>
        <p:nvPicPr>
          <p:cNvPr id="7" name="Image 3" descr="preencoded.png">    </p:cNvPr>
          <p:cNvPicPr>
            <a:picLocks noChangeAspect="1"/>
          </p:cNvPicPr>
          <p:nvPr/>
        </p:nvPicPr>
        <p:blipFill>
          <a:blip r:embed="rId4"/>
          <a:stretch>
            <a:fillRect/>
          </a:stretch>
        </p:blipFill>
        <p:spPr>
          <a:xfrm>
            <a:off x="4157663" y="3371850"/>
            <a:ext cx="1266825" cy="1266825"/>
          </a:xfrm>
          <a:prstGeom prst="rect">
            <a:avLst/>
          </a:prstGeom>
        </p:spPr>
      </p:pic>
      <p:pic>
        <p:nvPicPr>
          <p:cNvPr id="8" name="Image 4" descr="preencoded.png">    </p:cNvPr>
          <p:cNvPicPr>
            <a:picLocks noChangeAspect="1"/>
          </p:cNvPicPr>
          <p:nvPr/>
        </p:nvPicPr>
        <p:blipFill>
          <a:blip r:embed="rId5"/>
          <a:stretch>
            <a:fillRect/>
          </a:stretch>
        </p:blipFill>
        <p:spPr>
          <a:xfrm>
            <a:off x="2133600" y="3262313"/>
            <a:ext cx="1414463" cy="1414463"/>
          </a:xfrm>
          <a:prstGeom prst="rect">
            <a:avLst/>
          </a:prstGeom>
        </p:spPr>
      </p:pic>
      <p:pic>
        <p:nvPicPr>
          <p:cNvPr id="9" name="Image 5" descr="preencoded.png">    </p:cNvPr>
          <p:cNvPicPr>
            <a:picLocks noChangeAspect="1"/>
          </p:cNvPicPr>
          <p:nvPr/>
        </p:nvPicPr>
        <p:blipFill>
          <a:blip r:embed="rId6"/>
          <a:stretch>
            <a:fillRect/>
          </a:stretch>
        </p:blipFill>
        <p:spPr>
          <a:xfrm>
            <a:off x="352425" y="3233738"/>
            <a:ext cx="1343025" cy="1343025"/>
          </a:xfrm>
          <a:prstGeom prst="rect">
            <a:avLst/>
          </a:prstGeom>
        </p:spPr>
      </p:pic>
      <p:pic>
        <p:nvPicPr>
          <p:cNvPr id="10" name="Image 6" descr="preencoded.png">    </p:cNvPr>
          <p:cNvPicPr>
            <a:picLocks noChangeAspect="1"/>
          </p:cNvPicPr>
          <p:nvPr/>
        </p:nvPicPr>
        <p:blipFill>
          <a:blip r:embed="rId7"/>
          <a:stretch>
            <a:fillRect/>
          </a:stretch>
        </p:blipFill>
        <p:spPr>
          <a:xfrm>
            <a:off x="5710238" y="1338263"/>
            <a:ext cx="1709738" cy="1709738"/>
          </a:xfrm>
          <a:prstGeom prst="rect">
            <a:avLst/>
          </a:prstGeom>
        </p:spPr>
      </p:pic>
      <p:pic>
        <p:nvPicPr>
          <p:cNvPr id="11" name="Image 7" descr="preencoded.png">    </p:cNvPr>
          <p:cNvPicPr>
            <a:picLocks noChangeAspect="1"/>
          </p:cNvPicPr>
          <p:nvPr/>
        </p:nvPicPr>
        <p:blipFill>
          <a:blip r:embed="rId8"/>
          <a:stretch>
            <a:fillRect/>
          </a:stretch>
        </p:blipFill>
        <p:spPr>
          <a:xfrm>
            <a:off x="5895975" y="3371850"/>
            <a:ext cx="1247775" cy="1304925"/>
          </a:xfrm>
          <a:prstGeom prst="rect">
            <a:avLst/>
          </a:prstGeom>
        </p:spPr>
      </p:pic>
      <p:pic>
        <p:nvPicPr>
          <p:cNvPr id="12" name="Image 8" descr="preencoded.png">    </p:cNvPr>
          <p:cNvPicPr>
            <a:picLocks noChangeAspect="1"/>
          </p:cNvPicPr>
          <p:nvPr/>
        </p:nvPicPr>
        <p:blipFill>
          <a:blip r:embed="rId9"/>
          <a:stretch>
            <a:fillRect/>
          </a:stretch>
        </p:blipFill>
        <p:spPr>
          <a:xfrm>
            <a:off x="7624762" y="1552575"/>
            <a:ext cx="1428750" cy="1428750"/>
          </a:xfrm>
          <a:prstGeom prst="rect">
            <a:avLst/>
          </a:prstGeom>
        </p:spPr>
      </p:pic>
      <p:pic>
        <p:nvPicPr>
          <p:cNvPr id="13" name="Image 9" descr="preencoded.png">    </p:cNvPr>
          <p:cNvPicPr>
            <a:picLocks noChangeAspect="1"/>
          </p:cNvPicPr>
          <p:nvPr/>
        </p:nvPicPr>
        <p:blipFill>
          <a:blip r:embed="rId10"/>
          <a:stretch>
            <a:fillRect/>
          </a:stretch>
        </p:blipFill>
        <p:spPr>
          <a:xfrm>
            <a:off x="7581900" y="3429000"/>
            <a:ext cx="1271588" cy="1271588"/>
          </a:xfrm>
          <a:prstGeom prst="rect">
            <a:avLst/>
          </a:prstGeom>
        </p:spPr>
      </p:pic>
      <p:sp>
        <p:nvSpPr>
          <p:cNvPr id="14"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5"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6"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7" name="Text 4"/>
          <p:cNvSpPr/>
          <p:nvPr/>
        </p:nvSpPr>
        <p:spPr>
          <a:xfrm>
            <a:off x="8758238" y="4538663"/>
            <a:ext cx="661988"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22</a:t>
            </a:r>
            <a:endParaRPr lang="en-US" sz="1350" dirty="0"/>
          </a:p>
        </p:txBody>
      </p:sp>
      <p:sp>
        <p:nvSpPr>
          <p:cNvPr id="18" name="Text 5"/>
          <p:cNvSpPr/>
          <p:nvPr/>
        </p:nvSpPr>
        <p:spPr>
          <a:xfrm>
            <a:off x="376238" y="659606"/>
            <a:ext cx="5505450" cy="495300"/>
          </a:xfrm>
          <a:prstGeom prst="rect">
            <a:avLst/>
          </a:prstGeom>
          <a:noFill/>
          <a:ln/>
        </p:spPr>
        <p:txBody>
          <a:bodyPr wrap="square" rtlCol="0" anchor="ctr"/>
          <a:lstStyle/>
          <a:p>
            <a:pPr algn="l" indent="0" marL="0">
              <a:lnSpc>
                <a:spcPts val="3884"/>
              </a:lnSpc>
              <a:buNone/>
            </a:pPr>
            <a:r>
              <a:rPr lang="en-US" sz="3531" spc="-78" kern="0" dirty="0">
                <a:solidFill>
                  <a:srgbClr val="000000">
                    <a:alpha val="99000"/>
                  </a:srgbClr>
                </a:solidFill>
                <a:latin typeface="Plus Jakarta Sans" pitchFamily="34" charset="0"/>
                <a:ea typeface="Plus Jakarta Sans" pitchFamily="34" charset="-122"/>
                <a:cs typeface="Plus Jakarta Sans" pitchFamily="34" charset="-120"/>
              </a:rPr>
              <a:t>Our tech stack</a:t>
            </a:r>
            <a:endParaRPr lang="en-US" sz="353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5F1E9"/>
          </a:solidFill>
          <a:ln/>
        </p:spPr>
      </p:sp>
      <p:sp>
        <p:nvSpPr>
          <p:cNvPr id="4" name="Text 1"/>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5" name="Text 2"/>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6" name="Text 3"/>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7" name="Text 4"/>
          <p:cNvSpPr/>
          <p:nvPr/>
        </p:nvSpPr>
        <p:spPr>
          <a:xfrm>
            <a:off x="8758238" y="4491038"/>
            <a:ext cx="666750"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23</a:t>
            </a:r>
            <a:endParaRPr lang="en-US" sz="1350" dirty="0"/>
          </a:p>
        </p:txBody>
      </p:sp>
      <p:sp>
        <p:nvSpPr>
          <p:cNvPr id="8" name="Text 5"/>
          <p:cNvSpPr/>
          <p:nvPr/>
        </p:nvSpPr>
        <p:spPr>
          <a:xfrm>
            <a:off x="742950" y="1000125"/>
            <a:ext cx="5181600" cy="785813"/>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Q&amp;A</a:t>
            </a:r>
            <a:endParaRPr lang="en-US" sz="5625" dirty="0"/>
          </a:p>
        </p:txBody>
      </p:sp>
      <p:sp>
        <p:nvSpPr>
          <p:cNvPr id="9" name="Text 6"/>
          <p:cNvSpPr/>
          <p:nvPr/>
        </p:nvSpPr>
        <p:spPr>
          <a:xfrm>
            <a:off x="3943350" y="3233738"/>
            <a:ext cx="5181600" cy="785813"/>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Thank you!</a:t>
            </a:r>
            <a:endParaRPr lang="en-US" sz="56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90488" y="238125"/>
            <a:ext cx="8963025" cy="4814888"/>
          </a:xfrm>
          <a:prstGeom prst="rect">
            <a:avLst/>
          </a:prstGeom>
        </p:spPr>
      </p:pic>
      <p:sp>
        <p:nvSpPr>
          <p:cNvPr id="4" name="Text 0"/>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5" name="Text 1"/>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6" name="Text 2"/>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F5F1E9">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128588" y="795338"/>
            <a:ext cx="2221735" cy="4191000"/>
          </a:xfrm>
          <a:prstGeom prst="rect">
            <a:avLst/>
          </a:prstGeom>
          <a:solidFill>
            <a:srgbClr val="E498FF">
              <a:alpha val="40000"/>
            </a:srgbClr>
          </a:solidFill>
          <a:ln/>
        </p:spPr>
      </p:sp>
      <p:sp>
        <p:nvSpPr>
          <p:cNvPr id="3" name="Shape 1"/>
          <p:cNvSpPr/>
          <p:nvPr/>
        </p:nvSpPr>
        <p:spPr>
          <a:xfrm>
            <a:off x="2350322" y="795338"/>
            <a:ext cx="2171700" cy="4191000"/>
          </a:xfrm>
          <a:prstGeom prst="rect">
            <a:avLst/>
          </a:prstGeom>
          <a:solidFill>
            <a:srgbClr val="817DFF">
              <a:alpha val="20000"/>
            </a:srgbClr>
          </a:solidFill>
          <a:ln/>
        </p:spPr>
      </p:sp>
      <p:sp>
        <p:nvSpPr>
          <p:cNvPr id="4" name="Shape 2"/>
          <p:cNvSpPr/>
          <p:nvPr/>
        </p:nvSpPr>
        <p:spPr>
          <a:xfrm>
            <a:off x="4522077" y="795338"/>
            <a:ext cx="2271713" cy="4191000"/>
          </a:xfrm>
          <a:prstGeom prst="rect">
            <a:avLst/>
          </a:prstGeom>
          <a:solidFill>
            <a:srgbClr val="2298FF">
              <a:alpha val="40000"/>
            </a:srgbClr>
          </a:solidFill>
          <a:ln/>
        </p:spPr>
      </p:sp>
      <p:sp>
        <p:nvSpPr>
          <p:cNvPr id="5" name="Shape 3"/>
          <p:cNvSpPr/>
          <p:nvPr/>
        </p:nvSpPr>
        <p:spPr>
          <a:xfrm>
            <a:off x="6793790" y="795338"/>
            <a:ext cx="2257425" cy="4191000"/>
          </a:xfrm>
          <a:prstGeom prst="rect">
            <a:avLst/>
          </a:prstGeom>
          <a:solidFill>
            <a:srgbClr val="817DFF">
              <a:alpha val="20000"/>
            </a:srgbClr>
          </a:solidFill>
          <a:ln/>
        </p:spPr>
      </p:sp>
      <p:sp>
        <p:nvSpPr>
          <p:cNvPr id="6" name="Shape 4"/>
          <p:cNvSpPr/>
          <p:nvPr/>
        </p:nvSpPr>
        <p:spPr>
          <a:xfrm>
            <a:off x="128588" y="576263"/>
            <a:ext cx="2224088" cy="623888"/>
          </a:xfrm>
          <a:prstGeom prst="rect">
            <a:avLst/>
          </a:prstGeom>
          <a:solidFill>
            <a:srgbClr val="E498FF"/>
          </a:solidFill>
          <a:ln/>
        </p:spPr>
      </p:sp>
      <p:sp>
        <p:nvSpPr>
          <p:cNvPr id="7" name="Shape 5"/>
          <p:cNvSpPr/>
          <p:nvPr/>
        </p:nvSpPr>
        <p:spPr>
          <a:xfrm>
            <a:off x="2352675" y="576263"/>
            <a:ext cx="2171700" cy="623888"/>
          </a:xfrm>
          <a:prstGeom prst="rect">
            <a:avLst/>
          </a:prstGeom>
          <a:solidFill>
            <a:srgbClr val="9592FF"/>
          </a:solidFill>
          <a:ln/>
        </p:spPr>
      </p:sp>
      <p:sp>
        <p:nvSpPr>
          <p:cNvPr id="8" name="Shape 6"/>
          <p:cNvSpPr/>
          <p:nvPr/>
        </p:nvSpPr>
        <p:spPr>
          <a:xfrm>
            <a:off x="4524375" y="576263"/>
            <a:ext cx="2271713" cy="628650"/>
          </a:xfrm>
          <a:prstGeom prst="rect">
            <a:avLst/>
          </a:prstGeom>
          <a:solidFill>
            <a:srgbClr val="5EB4FF"/>
          </a:solidFill>
          <a:ln/>
        </p:spPr>
      </p:sp>
      <p:sp>
        <p:nvSpPr>
          <p:cNvPr id="9" name="Shape 7"/>
          <p:cNvSpPr/>
          <p:nvPr/>
        </p:nvSpPr>
        <p:spPr>
          <a:xfrm>
            <a:off x="6796088" y="576263"/>
            <a:ext cx="2257425" cy="623888"/>
          </a:xfrm>
          <a:prstGeom prst="rect">
            <a:avLst/>
          </a:prstGeom>
          <a:solidFill>
            <a:srgbClr val="9592FF"/>
          </a:solidFill>
          <a:ln/>
        </p:spPr>
      </p:sp>
      <p:sp>
        <p:nvSpPr>
          <p:cNvPr id="10" name="Text 8"/>
          <p:cNvSpPr/>
          <p:nvPr/>
        </p:nvSpPr>
        <p:spPr>
          <a:xfrm>
            <a:off x="290168" y="3845173"/>
            <a:ext cx="1863228" cy="1050275"/>
          </a:xfrm>
          <a:prstGeom prst="diamond">
            <a:avLst/>
          </a:prstGeom>
          <a:solidFill>
            <a:srgbClr val="E498FF"/>
          </a:solidFill>
          <a:ln/>
        </p:spPr>
        <p:txBody>
          <a:bodyPr wrap="square" rtlCol="0" anchor="ctr"/>
          <a:lstStyle/>
          <a:p>
            <a:pPr indent="0" marL="0">
              <a:buNone/>
            </a:pPr>
            <a:r>
              <a:rPr lang="en-US" dirty="0">
                <a:solidFill>
                  <a:srgbClr val="000000"/>
                </a:solidFill>
              </a:rPr>
              <a:t>Mutual Information</a:t>
            </a:r>
            <a:endParaRPr lang="en-US" dirty="0"/>
          </a:p>
        </p:txBody>
      </p:sp>
      <p:pic>
        <p:nvPicPr>
          <p:cNvPr id="11" name="Image 0" descr="preencoded.png">    </p:cNvPr>
          <p:cNvPicPr>
            <a:picLocks noChangeAspect="1"/>
          </p:cNvPicPr>
          <p:nvPr/>
        </p:nvPicPr>
        <p:blipFill>
          <a:blip r:embed="rId1"/>
          <a:stretch>
            <a:fillRect/>
          </a:stretch>
        </p:blipFill>
        <p:spPr>
          <a:xfrm>
            <a:off x="7115175" y="1795463"/>
            <a:ext cx="1838325" cy="909638"/>
          </a:xfrm>
          <a:prstGeom prst="rect">
            <a:avLst/>
          </a:prstGeom>
        </p:spPr>
      </p:pic>
      <p:pic>
        <p:nvPicPr>
          <p:cNvPr id="12" name="Image 1" descr="preencoded.png">    </p:cNvPr>
          <p:cNvPicPr>
            <a:picLocks noChangeAspect="1"/>
          </p:cNvPicPr>
          <p:nvPr/>
        </p:nvPicPr>
        <p:blipFill>
          <a:blip r:embed="rId2"/>
          <a:stretch>
            <a:fillRect/>
          </a:stretch>
        </p:blipFill>
        <p:spPr>
          <a:xfrm>
            <a:off x="376010" y="1340673"/>
            <a:ext cx="782657" cy="908892"/>
          </a:xfrm>
          <a:prstGeom prst="rect">
            <a:avLst/>
          </a:prstGeom>
        </p:spPr>
      </p:pic>
      <p:pic>
        <p:nvPicPr>
          <p:cNvPr id="13" name="Image 2" descr="preencoded.png">    </p:cNvPr>
          <p:cNvPicPr>
            <a:picLocks noChangeAspect="1"/>
          </p:cNvPicPr>
          <p:nvPr/>
        </p:nvPicPr>
        <p:blipFill>
          <a:blip r:embed="rId3"/>
          <a:stretch>
            <a:fillRect/>
          </a:stretch>
        </p:blipFill>
        <p:spPr>
          <a:xfrm>
            <a:off x="1234404" y="1340673"/>
            <a:ext cx="782657" cy="908892"/>
          </a:xfrm>
          <a:prstGeom prst="rect">
            <a:avLst/>
          </a:prstGeom>
        </p:spPr>
      </p:pic>
      <p:pic>
        <p:nvPicPr>
          <p:cNvPr id="14" name="Image 3" descr="preencoded.png">    </p:cNvPr>
          <p:cNvPicPr>
            <a:picLocks noChangeAspect="1"/>
          </p:cNvPicPr>
          <p:nvPr/>
        </p:nvPicPr>
        <p:blipFill>
          <a:blip r:embed="rId4"/>
          <a:stretch>
            <a:fillRect/>
          </a:stretch>
        </p:blipFill>
        <p:spPr>
          <a:xfrm>
            <a:off x="2688631" y="1789348"/>
            <a:ext cx="1676400" cy="555434"/>
          </a:xfrm>
          <a:prstGeom prst="rect">
            <a:avLst/>
          </a:prstGeom>
        </p:spPr>
      </p:pic>
      <p:pic>
        <p:nvPicPr>
          <p:cNvPr id="15" name="Image 4" descr="preencoded.png">    </p:cNvPr>
          <p:cNvPicPr>
            <a:picLocks noChangeAspect="1"/>
          </p:cNvPicPr>
          <p:nvPr/>
        </p:nvPicPr>
        <p:blipFill>
          <a:blip r:embed="rId5"/>
          <a:stretch>
            <a:fillRect/>
          </a:stretch>
        </p:blipFill>
        <p:spPr>
          <a:xfrm>
            <a:off x="2668432" y="2895887"/>
            <a:ext cx="1676400" cy="560483"/>
          </a:xfrm>
          <a:prstGeom prst="rect">
            <a:avLst/>
          </a:prstGeom>
        </p:spPr>
      </p:pic>
      <p:pic>
        <p:nvPicPr>
          <p:cNvPr id="16" name="Image 5" descr="preencoded.png">    </p:cNvPr>
          <p:cNvPicPr>
            <a:picLocks noChangeAspect="1"/>
          </p:cNvPicPr>
          <p:nvPr/>
        </p:nvPicPr>
        <p:blipFill>
          <a:blip r:embed="rId6"/>
          <a:stretch>
            <a:fillRect/>
          </a:stretch>
        </p:blipFill>
        <p:spPr>
          <a:xfrm>
            <a:off x="5046701" y="1441660"/>
            <a:ext cx="1413831" cy="848299"/>
          </a:xfrm>
          <a:prstGeom prst="rect">
            <a:avLst/>
          </a:prstGeom>
        </p:spPr>
      </p:pic>
      <p:pic>
        <p:nvPicPr>
          <p:cNvPr id="17" name="Image 6" descr="preencoded.png">    </p:cNvPr>
          <p:cNvPicPr>
            <a:picLocks noChangeAspect="1"/>
          </p:cNvPicPr>
          <p:nvPr/>
        </p:nvPicPr>
        <p:blipFill>
          <a:blip r:embed="rId7"/>
          <a:stretch>
            <a:fillRect/>
          </a:stretch>
        </p:blipFill>
        <p:spPr>
          <a:xfrm>
            <a:off x="5046985" y="2597972"/>
            <a:ext cx="1413831" cy="848299"/>
          </a:xfrm>
          <a:prstGeom prst="rect">
            <a:avLst/>
          </a:prstGeom>
        </p:spPr>
      </p:pic>
      <p:pic>
        <p:nvPicPr>
          <p:cNvPr id="18" name="Image 7" descr="preencoded.png">    </p:cNvPr>
          <p:cNvPicPr>
            <a:picLocks noChangeAspect="1"/>
          </p:cNvPicPr>
          <p:nvPr/>
        </p:nvPicPr>
        <p:blipFill>
          <a:blip r:embed="rId8"/>
          <a:stretch>
            <a:fillRect/>
          </a:stretch>
        </p:blipFill>
        <p:spPr>
          <a:xfrm>
            <a:off x="7210425" y="3024188"/>
            <a:ext cx="1651155" cy="565533"/>
          </a:xfrm>
          <a:prstGeom prst="rect">
            <a:avLst/>
          </a:prstGeom>
        </p:spPr>
      </p:pic>
      <p:pic>
        <p:nvPicPr>
          <p:cNvPr id="19" name="Image 8" descr="preencoded.png">    </p:cNvPr>
          <p:cNvPicPr>
            <a:picLocks noChangeAspect="1"/>
          </p:cNvPicPr>
          <p:nvPr/>
        </p:nvPicPr>
        <p:blipFill>
          <a:blip r:embed="rId9"/>
          <a:stretch>
            <a:fillRect/>
          </a:stretch>
        </p:blipFill>
        <p:spPr>
          <a:xfrm>
            <a:off x="451749" y="2754504"/>
            <a:ext cx="1540066" cy="848299"/>
          </a:xfrm>
          <a:prstGeom prst="rect">
            <a:avLst/>
          </a:prstGeom>
        </p:spPr>
      </p:pic>
      <p:pic>
        <p:nvPicPr>
          <p:cNvPr id="20" name="Image 9" descr="preencoded.png">    </p:cNvPr>
          <p:cNvPicPr>
            <a:picLocks noChangeAspect="1"/>
          </p:cNvPicPr>
          <p:nvPr/>
        </p:nvPicPr>
        <p:blipFill>
          <a:blip r:embed="rId10"/>
          <a:stretch>
            <a:fillRect/>
          </a:stretch>
        </p:blipFill>
        <p:spPr>
          <a:xfrm>
            <a:off x="767339" y="2278139"/>
            <a:ext cx="534107" cy="464459"/>
          </a:xfrm>
          <a:prstGeom prst="rect">
            <a:avLst/>
          </a:prstGeom>
        </p:spPr>
      </p:pic>
      <p:pic>
        <p:nvPicPr>
          <p:cNvPr id="21" name="Image 10" descr="preencoded.png">    </p:cNvPr>
          <p:cNvPicPr>
            <a:picLocks noChangeAspect="1"/>
          </p:cNvPicPr>
          <p:nvPr/>
        </p:nvPicPr>
        <p:blipFill>
          <a:blip r:embed="rId11"/>
          <a:stretch>
            <a:fillRect/>
          </a:stretch>
        </p:blipFill>
        <p:spPr>
          <a:xfrm>
            <a:off x="1221781" y="2278139"/>
            <a:ext cx="483608" cy="464459"/>
          </a:xfrm>
          <a:prstGeom prst="rect">
            <a:avLst/>
          </a:prstGeom>
        </p:spPr>
      </p:pic>
      <p:pic>
        <p:nvPicPr>
          <p:cNvPr id="22" name="Image 11" descr="preencoded.png">    </p:cNvPr>
          <p:cNvPicPr>
            <a:picLocks noChangeAspect="1"/>
          </p:cNvPicPr>
          <p:nvPr/>
        </p:nvPicPr>
        <p:blipFill>
          <a:blip r:embed="rId12"/>
          <a:stretch>
            <a:fillRect/>
          </a:stretch>
        </p:blipFill>
        <p:spPr>
          <a:xfrm>
            <a:off x="1221781" y="3631377"/>
            <a:ext cx="140280" cy="201890"/>
          </a:xfrm>
          <a:prstGeom prst="rect">
            <a:avLst/>
          </a:prstGeom>
        </p:spPr>
      </p:pic>
      <p:pic>
        <p:nvPicPr>
          <p:cNvPr id="23" name="Image 12" descr="preencoded.png">    </p:cNvPr>
          <p:cNvPicPr>
            <a:picLocks noChangeAspect="1"/>
          </p:cNvPicPr>
          <p:nvPr/>
        </p:nvPicPr>
        <p:blipFill>
          <a:blip r:embed="rId13"/>
          <a:stretch>
            <a:fillRect/>
          </a:stretch>
        </p:blipFill>
        <p:spPr>
          <a:xfrm>
            <a:off x="2181969" y="2067065"/>
            <a:ext cx="494760" cy="2382913"/>
          </a:xfrm>
          <a:prstGeom prst="rect">
            <a:avLst/>
          </a:prstGeom>
        </p:spPr>
      </p:pic>
      <p:pic>
        <p:nvPicPr>
          <p:cNvPr id="24" name="Image 13" descr="preencoded.png">    </p:cNvPr>
          <p:cNvPicPr>
            <a:picLocks noChangeAspect="1"/>
          </p:cNvPicPr>
          <p:nvPr/>
        </p:nvPicPr>
        <p:blipFill>
          <a:blip r:embed="rId14"/>
          <a:stretch>
            <a:fillRect/>
          </a:stretch>
        </p:blipFill>
        <p:spPr>
          <a:xfrm>
            <a:off x="4373407" y="1865809"/>
            <a:ext cx="661392" cy="1389986"/>
          </a:xfrm>
          <a:prstGeom prst="rect">
            <a:avLst/>
          </a:prstGeom>
        </p:spPr>
      </p:pic>
      <p:pic>
        <p:nvPicPr>
          <p:cNvPr id="25" name="Image 14" descr="preencoded.png">    </p:cNvPr>
          <p:cNvPicPr>
            <a:picLocks noChangeAspect="1"/>
          </p:cNvPicPr>
          <p:nvPr/>
        </p:nvPicPr>
        <p:blipFill>
          <a:blip r:embed="rId15"/>
          <a:stretch>
            <a:fillRect/>
          </a:stretch>
        </p:blipFill>
        <p:spPr>
          <a:xfrm>
            <a:off x="5753895" y="2318534"/>
            <a:ext cx="140280" cy="267531"/>
          </a:xfrm>
          <a:prstGeom prst="rect">
            <a:avLst/>
          </a:prstGeom>
        </p:spPr>
      </p:pic>
      <p:pic>
        <p:nvPicPr>
          <p:cNvPr id="26" name="Image 15" descr="preencoded.png">    </p:cNvPr>
          <p:cNvPicPr>
            <a:picLocks noChangeAspect="1"/>
          </p:cNvPicPr>
          <p:nvPr/>
        </p:nvPicPr>
        <p:blipFill>
          <a:blip r:embed="rId16"/>
          <a:stretch>
            <a:fillRect/>
          </a:stretch>
        </p:blipFill>
        <p:spPr>
          <a:xfrm>
            <a:off x="8034338" y="2736056"/>
            <a:ext cx="140280" cy="278606"/>
          </a:xfrm>
          <a:prstGeom prst="rect">
            <a:avLst/>
          </a:prstGeom>
        </p:spPr>
      </p:pic>
      <p:pic>
        <p:nvPicPr>
          <p:cNvPr id="27" name="Image 16" descr="preencoded.png">    </p:cNvPr>
          <p:cNvPicPr>
            <a:picLocks noChangeAspect="1"/>
          </p:cNvPicPr>
          <p:nvPr/>
        </p:nvPicPr>
        <p:blipFill>
          <a:blip r:embed="rId17"/>
          <a:stretch>
            <a:fillRect/>
          </a:stretch>
        </p:blipFill>
        <p:spPr>
          <a:xfrm>
            <a:off x="2181969" y="3176128"/>
            <a:ext cx="474557" cy="1273849"/>
          </a:xfrm>
          <a:prstGeom prst="rect">
            <a:avLst/>
          </a:prstGeom>
        </p:spPr>
      </p:pic>
      <p:pic>
        <p:nvPicPr>
          <p:cNvPr id="28" name="Image 17" descr="preencoded.png">    </p:cNvPr>
          <p:cNvPicPr>
            <a:picLocks noChangeAspect="1"/>
          </p:cNvPicPr>
          <p:nvPr/>
        </p:nvPicPr>
        <p:blipFill>
          <a:blip r:embed="rId18"/>
          <a:stretch>
            <a:fillRect/>
          </a:stretch>
        </p:blipFill>
        <p:spPr>
          <a:xfrm>
            <a:off x="5046985" y="3819927"/>
            <a:ext cx="1413831" cy="848299"/>
          </a:xfrm>
          <a:prstGeom prst="rect">
            <a:avLst/>
          </a:prstGeom>
        </p:spPr>
      </p:pic>
      <p:pic>
        <p:nvPicPr>
          <p:cNvPr id="29" name="Image 18" descr="preencoded.png">    </p:cNvPr>
          <p:cNvPicPr>
            <a:picLocks noChangeAspect="1"/>
          </p:cNvPicPr>
          <p:nvPr/>
        </p:nvPicPr>
        <p:blipFill>
          <a:blip r:embed="rId19"/>
          <a:stretch>
            <a:fillRect/>
          </a:stretch>
        </p:blipFill>
        <p:spPr>
          <a:xfrm>
            <a:off x="5753905" y="3474846"/>
            <a:ext cx="140280" cy="333175"/>
          </a:xfrm>
          <a:prstGeom prst="rect">
            <a:avLst/>
          </a:prstGeom>
        </p:spPr>
      </p:pic>
      <p:pic>
        <p:nvPicPr>
          <p:cNvPr id="30" name="Image 19" descr="preencoded.png">    </p:cNvPr>
          <p:cNvPicPr>
            <a:picLocks noChangeAspect="1"/>
          </p:cNvPicPr>
          <p:nvPr/>
        </p:nvPicPr>
        <p:blipFill>
          <a:blip r:embed="rId20"/>
          <a:stretch>
            <a:fillRect/>
          </a:stretch>
        </p:blipFill>
        <p:spPr>
          <a:xfrm>
            <a:off x="6489395" y="2250281"/>
            <a:ext cx="613879" cy="2073461"/>
          </a:xfrm>
          <a:prstGeom prst="rect">
            <a:avLst/>
          </a:prstGeom>
        </p:spPr>
      </p:pic>
      <p:sp>
        <p:nvSpPr>
          <p:cNvPr id="31" name="Text 9"/>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32" name="Text 10"/>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33" name="Text 11"/>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34" name="Text 12"/>
          <p:cNvSpPr/>
          <p:nvPr/>
        </p:nvSpPr>
        <p:spPr>
          <a:xfrm>
            <a:off x="366713" y="785813"/>
            <a:ext cx="2205037" cy="200025"/>
          </a:xfrm>
          <a:prstGeom prst="rect">
            <a:avLst/>
          </a:prstGeom>
          <a:noFill/>
          <a:ln/>
        </p:spPr>
        <p:txBody>
          <a:bodyPr wrap="square" rtlCol="0" anchor="ctr"/>
          <a:lstStyle/>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(1)Data / (2)Features</a:t>
            </a:r>
            <a:endParaRPr lang="en-US" sz="1350" dirty="0"/>
          </a:p>
        </p:txBody>
      </p:sp>
      <p:sp>
        <p:nvSpPr>
          <p:cNvPr id="35" name="Text 13"/>
          <p:cNvSpPr/>
          <p:nvPr/>
        </p:nvSpPr>
        <p:spPr>
          <a:xfrm>
            <a:off x="2690813" y="785813"/>
            <a:ext cx="2005012" cy="200025"/>
          </a:xfrm>
          <a:prstGeom prst="rect">
            <a:avLst/>
          </a:prstGeom>
          <a:noFill/>
          <a:ln/>
        </p:spPr>
        <p:txBody>
          <a:bodyPr wrap="square" rtlCol="0" anchor="ctr"/>
          <a:lstStyle/>
          <a:p>
            <a:pPr algn="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Model/ (3) Metrics</a:t>
            </a:r>
            <a:endParaRPr lang="en-US" sz="1350" dirty="0"/>
          </a:p>
        </p:txBody>
      </p:sp>
      <p:sp>
        <p:nvSpPr>
          <p:cNvPr id="36" name="Text 14"/>
          <p:cNvSpPr/>
          <p:nvPr/>
        </p:nvSpPr>
        <p:spPr>
          <a:xfrm>
            <a:off x="4572000" y="657225"/>
            <a:ext cx="2619375" cy="400050"/>
          </a:xfrm>
          <a:prstGeom prst="rect">
            <a:avLst/>
          </a:prstGeom>
          <a:noFill/>
          <a:ln/>
        </p:spPr>
        <p:txBody>
          <a:bodyPr wrap="square" rtlCol="0" anchor="ctr"/>
          <a:lstStyle/>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Hyperparameter</a:t>
            </a:r>
            <a:endParaRPr lang="en-US" sz="1350" dirty="0"/>
          </a:p>
          <a:p>
            <a:pPr algn="ct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(4)Sampler / (5)Threshold</a:t>
            </a:r>
            <a:endParaRPr lang="en-US" sz="1350" dirty="0"/>
          </a:p>
        </p:txBody>
      </p:sp>
      <p:sp>
        <p:nvSpPr>
          <p:cNvPr id="37" name="Text 15"/>
          <p:cNvSpPr/>
          <p:nvPr/>
        </p:nvSpPr>
        <p:spPr>
          <a:xfrm>
            <a:off x="7353300" y="785813"/>
            <a:ext cx="1562100" cy="200025"/>
          </a:xfrm>
          <a:prstGeom prst="rect">
            <a:avLst/>
          </a:prstGeom>
          <a:noFill/>
          <a:ln/>
        </p:spPr>
        <p:txBody>
          <a:bodyPr wrap="square" rtlCol="0" anchor="ctr"/>
          <a:lstStyle/>
          <a:p>
            <a:pPr algn="r" indent="0" marL="0">
              <a:lnSpc>
                <a:spcPts val="1582"/>
              </a:lnSpc>
              <a:buNone/>
            </a:pPr>
            <a:r>
              <a:rPr lang="en-US" sz="1350" spc="54" kern="0" dirty="0">
                <a:solidFill>
                  <a:srgbClr val="000000">
                    <a:alpha val="99000"/>
                  </a:srgbClr>
                </a:solidFill>
                <a:latin typeface="Roboto" pitchFamily="34" charset="0"/>
                <a:ea typeface="Roboto" pitchFamily="34" charset="-122"/>
                <a:cs typeface="Roboto" pitchFamily="34" charset="-120"/>
              </a:rPr>
              <a:t>Final Release</a:t>
            </a:r>
            <a:endParaRPr lang="en-US" sz="1350" dirty="0"/>
          </a:p>
        </p:txBody>
      </p:sp>
      <p:sp>
        <p:nvSpPr>
          <p:cNvPr id="38" name="Text 16"/>
          <p:cNvSpPr/>
          <p:nvPr/>
        </p:nvSpPr>
        <p:spPr>
          <a:xfrm>
            <a:off x="123825" y="280988"/>
            <a:ext cx="2090737"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Plus Jakarta Sans" pitchFamily="34" charset="0"/>
                <a:ea typeface="Plus Jakarta Sans" pitchFamily="34" charset="-122"/>
                <a:cs typeface="Plus Jakarta Sans" pitchFamily="34" charset="-120"/>
              </a:rPr>
              <a:t>Workflow Overview</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9"/>
        </a:solidFill>
      </p:bgPr>
    </p:bg>
    <p:spTree>
      <p:nvGrpSpPr>
        <p:cNvPr id="1" name=""/>
        <p:cNvGrpSpPr/>
        <p:nvPr/>
      </p:nvGrpSpPr>
      <p:grpSpPr>
        <a:xfrm>
          <a:off x="0" y="0"/>
          <a:ext cx="0" cy="0"/>
          <a:chOff x="0" y="0"/>
          <a:chExt cx="0" cy="0"/>
        </a:xfrm>
      </p:grpSpPr>
      <p:sp>
        <p:nvSpPr>
          <p:cNvPr id="3" name="Shape 0"/>
          <p:cNvSpPr/>
          <p:nvPr/>
        </p:nvSpPr>
        <p:spPr>
          <a:xfrm>
            <a:off x="342900" y="104775"/>
            <a:ext cx="5553075" cy="366713"/>
          </a:xfrm>
          <a:prstGeom prst="rect">
            <a:avLst/>
          </a:prstGeom>
          <a:noFill/>
          <a:ln/>
        </p:spPr>
      </p:sp>
      <p:pic>
        <p:nvPicPr>
          <p:cNvPr id="4" name="Image 0" descr="preencoded.png">    </p:cNvPr>
          <p:cNvPicPr>
            <a:picLocks noChangeAspect="1"/>
          </p:cNvPicPr>
          <p:nvPr/>
        </p:nvPicPr>
        <p:blipFill>
          <a:blip r:embed="rId1"/>
          <a:stretch>
            <a:fillRect/>
          </a:stretch>
        </p:blipFill>
        <p:spPr>
          <a:xfrm>
            <a:off x="4776788" y="609600"/>
            <a:ext cx="1850617" cy="1879533"/>
          </a:xfrm>
          <a:prstGeom prst="rect">
            <a:avLst/>
          </a:prstGeom>
        </p:spPr>
      </p:pic>
      <p:pic>
        <p:nvPicPr>
          <p:cNvPr id="5" name="Image 1" descr="preencoded.png">    </p:cNvPr>
          <p:cNvPicPr>
            <a:picLocks noChangeAspect="1"/>
          </p:cNvPicPr>
          <p:nvPr/>
        </p:nvPicPr>
        <p:blipFill>
          <a:blip r:embed="rId2"/>
          <a:stretch>
            <a:fillRect/>
          </a:stretch>
        </p:blipFill>
        <p:spPr>
          <a:xfrm>
            <a:off x="2643188" y="609600"/>
            <a:ext cx="1850617" cy="1879533"/>
          </a:xfrm>
          <a:prstGeom prst="rect">
            <a:avLst/>
          </a:prstGeom>
        </p:spPr>
      </p:pic>
      <p:pic>
        <p:nvPicPr>
          <p:cNvPr id="6" name="Image 2" descr="preencoded.png">    </p:cNvPr>
          <p:cNvPicPr>
            <a:picLocks noChangeAspect="1"/>
          </p:cNvPicPr>
          <p:nvPr/>
        </p:nvPicPr>
        <p:blipFill>
          <a:blip r:embed="rId3"/>
          <a:stretch>
            <a:fillRect/>
          </a:stretch>
        </p:blipFill>
        <p:spPr>
          <a:xfrm>
            <a:off x="461963" y="609600"/>
            <a:ext cx="1850617" cy="1879533"/>
          </a:xfrm>
          <a:prstGeom prst="rect">
            <a:avLst/>
          </a:prstGeom>
        </p:spPr>
      </p:pic>
      <p:pic>
        <p:nvPicPr>
          <p:cNvPr id="7" name="Image 3" descr="preencoded.png">    </p:cNvPr>
          <p:cNvPicPr>
            <a:picLocks noChangeAspect="1"/>
          </p:cNvPicPr>
          <p:nvPr/>
        </p:nvPicPr>
        <p:blipFill>
          <a:blip r:embed="rId4"/>
          <a:stretch>
            <a:fillRect/>
          </a:stretch>
        </p:blipFill>
        <p:spPr>
          <a:xfrm>
            <a:off x="6948488" y="609600"/>
            <a:ext cx="1850617" cy="1879533"/>
          </a:xfrm>
          <a:prstGeom prst="rect">
            <a:avLst/>
          </a:prstGeom>
        </p:spPr>
      </p:pic>
      <p:sp>
        <p:nvSpPr>
          <p:cNvPr id="8" name="Text 1"/>
          <p:cNvSpPr/>
          <p:nvPr/>
        </p:nvSpPr>
        <p:spPr>
          <a:xfrm>
            <a:off x="461963" y="2786063"/>
            <a:ext cx="2414588" cy="1728788"/>
          </a:xfrm>
          <a:prstGeom prst="rect">
            <a:avLst/>
          </a:prstGeom>
          <a:noFill/>
          <a:ln/>
        </p:spPr>
        <p:txBody>
          <a:bodyPr wrap="square" rtlCol="0" anchor="ctr"/>
          <a:lstStyle/>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 SMOTE Evaluation Summary ===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accuracy       : 0.896 ± 0.002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balanced_acc   : 0.662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precision      : 0.240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recall         : 0.399 ± 0.012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f1             : 0.300 ± 0.008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roc_auc        : 0.804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avg_precision  : 0.238 ± 0.010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log_loss       : -0.304 ± 0.001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mcc            : 0.257 ± 0.009</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 Optimal Threshold     : 0.548 </a:t>
            </a:r>
            <a:endParaRPr lang="en-US" sz="825" dirty="0"/>
          </a:p>
        </p:txBody>
      </p:sp>
      <p:sp>
        <p:nvSpPr>
          <p:cNvPr id="9" name="Text 2"/>
          <p:cNvSpPr/>
          <p:nvPr/>
        </p:nvSpPr>
        <p:spPr>
          <a:xfrm>
            <a:off x="2652713" y="2786063"/>
            <a:ext cx="2300288" cy="1728788"/>
          </a:xfrm>
          <a:prstGeom prst="rect">
            <a:avLst/>
          </a:prstGeom>
          <a:noFill/>
          <a:ln/>
        </p:spPr>
        <p:txBody>
          <a:bodyPr wrap="square" rtlCol="0" anchor="ctr"/>
          <a:lstStyle/>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 === ADASYN Evaluation Summary ===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accuracy       : 0.894 ± 0.002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balanced_acc   : 0.661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precision      : 0.236 ± 0.005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recall         : 0.398 ± 0.013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f1             : 0.296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roc_auc        : 0.803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avg_precision  : 0.238 ± 0.009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log_loss       : -0.307 ± 0.001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mcc            : 0.253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Optimal Threshold     : 0.538  </a:t>
            </a:r>
            <a:endParaRPr lang="en-US" sz="825" dirty="0"/>
          </a:p>
        </p:txBody>
      </p:sp>
      <p:sp>
        <p:nvSpPr>
          <p:cNvPr id="10" name="Text 3"/>
          <p:cNvSpPr/>
          <p:nvPr/>
        </p:nvSpPr>
        <p:spPr>
          <a:xfrm>
            <a:off x="4686300" y="2786063"/>
            <a:ext cx="2667000" cy="1728788"/>
          </a:xfrm>
          <a:prstGeom prst="rect">
            <a:avLst/>
          </a:prstGeom>
          <a:noFill/>
          <a:ln/>
        </p:spPr>
        <p:txBody>
          <a:bodyPr wrap="square" rtlCol="0" anchor="ctr"/>
          <a:lstStyle/>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 SMOTETomek Evaluation Summary ===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accuracy       : 0.895 ± 0.002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balanced_acc   : 0.664 ± 0.005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precision      : 0.240 ± 0.005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recall         : 0.405 ± 0.011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f1             : 0.301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roc_auc        : 0.805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avg_precision  : 0.238 ± 0.009</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log_loss       : -0.304 ± 0.001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mcc            : 0.258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Optimal Threshold     : 0.559  </a:t>
            </a:r>
            <a:endParaRPr lang="en-US" sz="825" dirty="0"/>
          </a:p>
        </p:txBody>
      </p:sp>
      <p:sp>
        <p:nvSpPr>
          <p:cNvPr id="11" name="Text 4"/>
          <p:cNvSpPr/>
          <p:nvPr/>
        </p:nvSpPr>
        <p:spPr>
          <a:xfrm>
            <a:off x="6948488" y="2786063"/>
            <a:ext cx="3581400" cy="1728788"/>
          </a:xfrm>
          <a:prstGeom prst="rect">
            <a:avLst/>
          </a:prstGeom>
          <a:noFill/>
          <a:ln/>
        </p:spPr>
        <p:txBody>
          <a:bodyPr wrap="square" rtlCol="0" anchor="ctr"/>
          <a:lstStyle/>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 scale_pos_weight Evaluation Summary ===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accuracy       : 0.872 ± 0.003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balanced_acc   : 0.711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precision      : 0.225 ± 0.005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recall         : 0.529 ± 0.016</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 f1             : 0.316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roc_auc        : 0.821 ± 0.006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avg_precision  : 0.286 ± 0.014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log_loss       : -0.310 ± 0.004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mcc            : 0.286 ± 0.007 </a:t>
            </a:r>
            <a:endParaRPr lang="en-US" sz="825" dirty="0"/>
          </a:p>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Optimal Threshold     : 0.744</a:t>
            </a:r>
            <a:endParaRPr lang="en-US" sz="825" dirty="0"/>
          </a:p>
        </p:txBody>
      </p:sp>
      <p:sp>
        <p:nvSpPr>
          <p:cNvPr id="12" name="Text 5"/>
          <p:cNvSpPr/>
          <p:nvPr/>
        </p:nvSpPr>
        <p:spPr>
          <a:xfrm>
            <a:off x="342900" y="104775"/>
            <a:ext cx="6010275"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Appendix  - 4 sampling methods</a:t>
            </a:r>
            <a:endParaRPr lang="en-US" sz="26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1E9"/>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4114800" y="1704975"/>
            <a:ext cx="3100388" cy="3148013"/>
          </a:xfrm>
          <a:prstGeom prst="rect">
            <a:avLst/>
          </a:prstGeom>
        </p:spPr>
      </p:pic>
      <p:sp>
        <p:nvSpPr>
          <p:cNvPr id="4" name="Text 0"/>
          <p:cNvSpPr/>
          <p:nvPr/>
        </p:nvSpPr>
        <p:spPr>
          <a:xfrm>
            <a:off x="447675" y="1762125"/>
            <a:ext cx="3857625" cy="2809875"/>
          </a:xfrm>
          <a:prstGeom prst="rect">
            <a:avLst/>
          </a:prstGeom>
          <a:noFill/>
          <a:ln/>
        </p:spPr>
        <p:txBody>
          <a:bodyPr wrap="square" rtlCol="0" anchor="ctr"/>
          <a:lstStyle/>
          <a:p>
            <a:pPr algn="l" indent="0" marL="0">
              <a:lnSpc>
                <a:spcPts val="2219"/>
              </a:lnSpc>
              <a:buNone/>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&lt;scale_pos_weight &gt;</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accuracy                   : 0.872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balanced_acc   : 0.711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precision                    : 0.225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recall                                : 0.529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 f1                                           : 0.316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roc_auc                       : 0.821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avg_precision     : 0.286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log_loss                       : -0.310 </a:t>
            </a:r>
            <a:endParaRPr lang="en-US" sz="1480" dirty="0"/>
          </a:p>
          <a:p>
            <a:pPr algn="l" marL="342900" indent="-342900">
              <a:lnSpc>
                <a:spcPts val="2219"/>
              </a:lnSpc>
              <a:buSzPct val="100000"/>
              <a:buChar char="•"/>
            </a:pPr>
            <a:r>
              <a:rPr lang="en-US" sz="1480" spc="-33" kern="0" dirty="0">
                <a:solidFill>
                  <a:srgbClr val="000000">
                    <a:alpha val="99000"/>
                  </a:srgbClr>
                </a:solidFill>
                <a:latin typeface="Plus Jakarta Sans" pitchFamily="34" charset="0"/>
                <a:ea typeface="Plus Jakarta Sans" pitchFamily="34" charset="-122"/>
                <a:cs typeface="Plus Jakarta Sans" pitchFamily="34" charset="-120"/>
              </a:rPr>
              <a:t>mcc                                     : 0.286 </a:t>
            </a:r>
            <a:endParaRPr lang="en-US" sz="1480" dirty="0"/>
          </a:p>
        </p:txBody>
      </p:sp>
      <p:sp>
        <p:nvSpPr>
          <p:cNvPr id="5" name="Text 1"/>
          <p:cNvSpPr/>
          <p:nvPr/>
        </p:nvSpPr>
        <p:spPr>
          <a:xfrm>
            <a:off x="4114800" y="4852988"/>
            <a:ext cx="3557588" cy="214313"/>
          </a:xfrm>
          <a:prstGeom prst="rect">
            <a:avLst/>
          </a:prstGeom>
          <a:noFill/>
          <a:ln/>
        </p:spPr>
        <p:txBody>
          <a:bodyPr wrap="square" rtlCol="0" anchor="ctr"/>
          <a:lstStyle/>
          <a:p>
            <a:pPr algn="l" indent="0" marL="0">
              <a:lnSpc>
                <a:spcPts val="1688"/>
              </a:lnSpc>
              <a:buNone/>
            </a:pPr>
            <a:r>
              <a:rPr lang="en-US" sz="1125" b="1" spc="-25" kern="0" dirty="0">
                <a:solidFill>
                  <a:srgbClr val="000000">
                    <a:alpha val="99000"/>
                  </a:srgbClr>
                </a:solidFill>
                <a:latin typeface="Plus Jakarta Sans" pitchFamily="34" charset="0"/>
                <a:ea typeface="Plus Jakarta Sans" pitchFamily="34" charset="-122"/>
                <a:cs typeface="Plus Jakarta Sans" pitchFamily="34" charset="-120"/>
              </a:rPr>
              <a:t>Optimal Threshold     : 0.744</a:t>
            </a:r>
            <a:endParaRPr lang="en-US" sz="1125" dirty="0"/>
          </a:p>
        </p:txBody>
      </p:sp>
      <p:sp>
        <p:nvSpPr>
          <p:cNvPr id="6" name="Text 2"/>
          <p:cNvSpPr/>
          <p:nvPr/>
        </p:nvSpPr>
        <p:spPr>
          <a:xfrm>
            <a:off x="447675" y="1271588"/>
            <a:ext cx="3857625" cy="285750"/>
          </a:xfrm>
          <a:prstGeom prst="rect">
            <a:avLst/>
          </a:prstGeom>
          <a:noFill/>
          <a:ln/>
        </p:spPr>
        <p:txBody>
          <a:bodyPr wrap="square" rtlCol="0" anchor="ctr"/>
          <a:lstStyle/>
          <a:p>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[1] Best_model </a:t>
            </a:r>
            <a:pPr algn="l" indent="0" marL="0">
              <a:lnSpc>
                <a:spcPts val="2250"/>
              </a:lnSpc>
              <a:buNone/>
            </a:pPr>
            <a:r>
              <a:rPr lang="en-US" sz="1500" spc="-33" kern="0" dirty="0">
                <a:solidFill>
                  <a:srgbClr val="000000">
                    <a:alpha val="99000"/>
                  </a:srgbClr>
                </a:solidFill>
                <a:latin typeface="Plus Jakarta Sans" pitchFamily="34" charset="0"/>
                <a:ea typeface="Plus Jakarta Sans" pitchFamily="34" charset="-122"/>
                <a:cs typeface="Plus Jakarta Sans" pitchFamily="34" charset="-120"/>
              </a:rPr>
              <a:t>after</a:t>
            </a:r>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 Cross-validation </a:t>
            </a:r>
            <a:endParaRPr lang="en-US" sz="1500" dirty="0"/>
          </a:p>
        </p:txBody>
      </p:sp>
      <p:sp>
        <p:nvSpPr>
          <p:cNvPr id="7" name="Text 3"/>
          <p:cNvSpPr/>
          <p:nvPr/>
        </p:nvSpPr>
        <p:spPr>
          <a:xfrm>
            <a:off x="4114800" y="1271588"/>
            <a:ext cx="4824413" cy="285750"/>
          </a:xfrm>
          <a:prstGeom prst="rect">
            <a:avLst/>
          </a:prstGeom>
          <a:noFill/>
          <a:ln/>
        </p:spPr>
        <p:txBody>
          <a:bodyPr wrap="square" rtlCol="0" anchor="ctr"/>
          <a:lstStyle/>
          <a:p>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[2] Precision-Recall Curve </a:t>
            </a:r>
            <a:pPr algn="l" indent="0" marL="0">
              <a:lnSpc>
                <a:spcPts val="2250"/>
              </a:lnSpc>
              <a:buNone/>
            </a:pPr>
            <a:r>
              <a:rPr lang="en-US" sz="1500" spc="-33" kern="0" dirty="0">
                <a:solidFill>
                  <a:srgbClr val="000000">
                    <a:alpha val="99000"/>
                  </a:srgbClr>
                </a:solidFill>
                <a:latin typeface="Plus Jakarta Sans" pitchFamily="34" charset="0"/>
                <a:ea typeface="Plus Jakarta Sans" pitchFamily="34" charset="-122"/>
                <a:cs typeface="Plus Jakarta Sans" pitchFamily="34" charset="-120"/>
              </a:rPr>
              <a:t>based on</a:t>
            </a:r>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 best-model</a:t>
            </a:r>
            <a:endParaRPr lang="en-US" sz="1500" dirty="0"/>
          </a:p>
        </p:txBody>
      </p:sp>
      <p:sp>
        <p:nvSpPr>
          <p:cNvPr id="8" name="Text 4"/>
          <p:cNvSpPr/>
          <p:nvPr/>
        </p:nvSpPr>
        <p:spPr>
          <a:xfrm>
            <a:off x="7577138" y="1757363"/>
            <a:ext cx="4824413" cy="571500"/>
          </a:xfrm>
          <a:prstGeom prst="rect">
            <a:avLst/>
          </a:prstGeom>
          <a:noFill/>
          <a:ln/>
        </p:spPr>
        <p:txBody>
          <a:bodyPr wrap="square" rtlCol="0" anchor="ctr"/>
          <a:lstStyle/>
          <a:p>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a:t>
            </a:r>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3</a:t>
            </a:r>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 </a:t>
            </a:r>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F-1 Score</a:t>
            </a:r>
            <a:endParaRPr lang="en-US" sz="1500" dirty="0"/>
          </a:p>
          <a:p>
            <a:pPr algn="l" indent="0" marL="0">
              <a:lnSpc>
                <a:spcPts val="2250"/>
              </a:lnSpc>
              <a:buNone/>
            </a:pPr>
            <a:r>
              <a:rPr lang="en-US" sz="1500" b="1" spc="-33" kern="0" dirty="0">
                <a:solidFill>
                  <a:srgbClr val="000000">
                    <a:alpha val="99000"/>
                  </a:srgbClr>
                </a:solidFill>
                <a:latin typeface="Plus Jakarta Sans" pitchFamily="34" charset="0"/>
                <a:ea typeface="Plus Jakarta Sans" pitchFamily="34" charset="-122"/>
                <a:cs typeface="Plus Jakarta Sans" pitchFamily="34" charset="-120"/>
              </a:rPr>
              <a:t>0.731</a:t>
            </a:r>
            <a:endParaRPr lang="en-US" sz="1500" dirty="0"/>
          </a:p>
        </p:txBody>
      </p:sp>
      <p:sp>
        <p:nvSpPr>
          <p:cNvPr id="9" name="Text 5"/>
          <p:cNvSpPr/>
          <p:nvPr/>
        </p:nvSpPr>
        <p:spPr>
          <a:xfrm>
            <a:off x="447675" y="638175"/>
            <a:ext cx="8491538"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(5) XGboost - scale_pos_weight </a:t>
            </a:r>
            <a:endParaRPr lang="en-US" sz="26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1E9"/>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3295650" y="1795463"/>
            <a:ext cx="3271838" cy="3324225"/>
          </a:xfrm>
          <a:prstGeom prst="rect">
            <a:avLst/>
          </a:prstGeom>
        </p:spPr>
      </p:pic>
      <p:sp>
        <p:nvSpPr>
          <p:cNvPr id="4" name="Text 0"/>
          <p:cNvSpPr/>
          <p:nvPr/>
        </p:nvSpPr>
        <p:spPr>
          <a:xfrm>
            <a:off x="447675" y="404813"/>
            <a:ext cx="10842172" cy="457200"/>
          </a:xfrm>
          <a:prstGeom prst="rect">
            <a:avLst/>
          </a:prstGeom>
          <a:noFill/>
          <a:ln/>
        </p:spPr>
        <p:txBody>
          <a:bodyPr wrap="square" rtlCol="0" anchor="ctr"/>
          <a:lstStyle/>
          <a:p>
            <a:pPr algn="l" indent="0" marL="0">
              <a:lnSpc>
                <a:spcPts val="3600"/>
              </a:lnSpc>
              <a:buNone/>
            </a:pPr>
            <a:r>
              <a:rPr lang="en-US" sz="3273" spc="-72" kern="0" dirty="0">
                <a:solidFill>
                  <a:srgbClr val="000000">
                    <a:alpha val="99000"/>
                  </a:srgbClr>
                </a:solidFill>
                <a:latin typeface="Plus Jakarta Sans" pitchFamily="34" charset="0"/>
                <a:ea typeface="Plus Jakarta Sans" pitchFamily="34" charset="-122"/>
                <a:cs typeface="Plus Jakarta Sans" pitchFamily="34" charset="-120"/>
              </a:rPr>
              <a:t>Final Model - Evaluation Metrics</a:t>
            </a:r>
            <a:endParaRPr lang="en-US" sz="3273" dirty="0"/>
          </a:p>
        </p:txBody>
      </p:sp>
      <p:sp>
        <p:nvSpPr>
          <p:cNvPr id="5" name="Text 1"/>
          <p:cNvSpPr/>
          <p:nvPr/>
        </p:nvSpPr>
        <p:spPr>
          <a:xfrm>
            <a:off x="6662738" y="1795463"/>
            <a:ext cx="2938268" cy="438150"/>
          </a:xfrm>
          <a:prstGeom prst="rect">
            <a:avLst/>
          </a:prstGeom>
          <a:noFill/>
          <a:ln/>
        </p:spPr>
        <p:txBody>
          <a:bodyPr wrap="square" rtlCol="0" anchor="ctr"/>
          <a:lstStyle/>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F1:                              0.66</a:t>
            </a:r>
            <a:endParaRPr lang="en-US" sz="2293" dirty="0"/>
          </a:p>
        </p:txBody>
      </p:sp>
      <p:sp>
        <p:nvSpPr>
          <p:cNvPr id="6" name="Text 2"/>
          <p:cNvSpPr/>
          <p:nvPr/>
        </p:nvSpPr>
        <p:spPr>
          <a:xfrm>
            <a:off x="6662738" y="2233613"/>
            <a:ext cx="2938268" cy="438150"/>
          </a:xfrm>
          <a:prstGeom prst="rect">
            <a:avLst/>
          </a:prstGeom>
          <a:noFill/>
          <a:ln/>
        </p:spPr>
        <p:txBody>
          <a:bodyPr wrap="square" rtlCol="0" anchor="ctr"/>
          <a:lstStyle/>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Threshold:      0.72</a:t>
            </a:r>
            <a:endParaRPr lang="en-US" sz="2293" dirty="0"/>
          </a:p>
        </p:txBody>
      </p:sp>
      <p:sp>
        <p:nvSpPr>
          <p:cNvPr id="7" name="Text 3"/>
          <p:cNvSpPr/>
          <p:nvPr/>
        </p:nvSpPr>
        <p:spPr>
          <a:xfrm>
            <a:off x="447675" y="1866900"/>
            <a:ext cx="3090863" cy="3067050"/>
          </a:xfrm>
          <a:prstGeom prst="rect">
            <a:avLst/>
          </a:prstGeom>
          <a:noFill/>
          <a:ln/>
        </p:spPr>
        <p:txBody>
          <a:bodyPr wrap="square" rtlCol="0" anchor="ctr"/>
          <a:lstStyle/>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Accuracy:       0.87</a:t>
            </a:r>
            <a:endParaRPr lang="en-US" sz="2293" dirty="0"/>
          </a:p>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Precision:       0.24 </a:t>
            </a:r>
            <a:endParaRPr lang="en-US" sz="2293" dirty="0"/>
          </a:p>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Recall:                 0.58</a:t>
            </a:r>
            <a:endParaRPr lang="en-US" sz="2293" dirty="0"/>
          </a:p>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F1:                             0.34</a:t>
            </a:r>
            <a:endParaRPr lang="en-US" sz="2293" dirty="0"/>
          </a:p>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ROC AUC:     0.84</a:t>
            </a:r>
            <a:endParaRPr lang="en-US" sz="2293" dirty="0"/>
          </a:p>
          <a:p>
            <a:pPr algn="l" indent="0" marL="0">
              <a:lnSpc>
                <a:spcPts val="3440"/>
              </a:lnSpc>
              <a:buNone/>
            </a:pPr>
            <a:r>
              <a:rPr lang="en-US" sz="2293" spc="-50" kern="0" dirty="0">
                <a:solidFill>
                  <a:srgbClr val="000000">
                    <a:alpha val="99000"/>
                  </a:srgbClr>
                </a:solidFill>
                <a:latin typeface="Plus Jakarta Sans" pitchFamily="34" charset="0"/>
                <a:ea typeface="Plus Jakarta Sans" pitchFamily="34" charset="-122"/>
                <a:cs typeface="Plus Jakarta Sans" pitchFamily="34" charset="-120"/>
              </a:rPr>
              <a:t>MCC:                    0.31</a:t>
            </a:r>
            <a:endParaRPr lang="en-US" sz="2293" dirty="0"/>
          </a:p>
        </p:txBody>
      </p:sp>
      <p:sp>
        <p:nvSpPr>
          <p:cNvPr id="8" name="Text 4"/>
          <p:cNvSpPr/>
          <p:nvPr/>
        </p:nvSpPr>
        <p:spPr>
          <a:xfrm>
            <a:off x="481012" y="1271588"/>
            <a:ext cx="6681788" cy="276225"/>
          </a:xfrm>
          <a:prstGeom prst="rect">
            <a:avLst/>
          </a:prstGeom>
          <a:noFill/>
          <a:ln/>
        </p:spPr>
        <p:txBody>
          <a:bodyPr wrap="square" rtlCol="0" anchor="ctr"/>
          <a:lstStyle/>
          <a:p>
            <a:pPr algn="l" indent="0" marL="0">
              <a:lnSpc>
                <a:spcPts val="2160"/>
              </a:lnSpc>
              <a:buNone/>
            </a:pPr>
            <a:r>
              <a:rPr lang="en-US" sz="1800" b="1" spc="-40" kern="0" dirty="0">
                <a:solidFill>
                  <a:srgbClr val="000000">
                    <a:alpha val="99000"/>
                  </a:srgbClr>
                </a:solidFill>
                <a:latin typeface="Inter" pitchFamily="34" charset="0"/>
                <a:ea typeface="Inter" pitchFamily="34" charset="-122"/>
                <a:cs typeface="Inter" pitchFamily="34" charset="-120"/>
              </a:rPr>
              <a:t>Model: XGBoost </a:t>
            </a:r>
            <a:pPr algn="l" indent="0" marL="0">
              <a:lnSpc>
                <a:spcPts val="2160"/>
              </a:lnSpc>
              <a:buNone/>
            </a:pPr>
            <a:r>
              <a:rPr lang="en-US" sz="1800" spc="-40" kern="0" dirty="0">
                <a:solidFill>
                  <a:srgbClr val="000000">
                    <a:alpha val="99000"/>
                  </a:srgbClr>
                </a:solidFill>
                <a:latin typeface="Inter" pitchFamily="34" charset="0"/>
                <a:ea typeface="Inter" pitchFamily="34" charset="-122"/>
                <a:cs typeface="Inter" pitchFamily="34" charset="-120"/>
              </a:rPr>
              <a:t>with</a:t>
            </a:r>
            <a:pPr algn="l" indent="0" marL="0">
              <a:lnSpc>
                <a:spcPts val="2160"/>
              </a:lnSpc>
              <a:buNone/>
            </a:pPr>
            <a:r>
              <a:rPr lang="en-US" sz="1800" b="1" spc="-40" kern="0" dirty="0">
                <a:solidFill>
                  <a:srgbClr val="000000">
                    <a:alpha val="99000"/>
                  </a:srgbClr>
                </a:solidFill>
                <a:latin typeface="Inter" pitchFamily="34" charset="0"/>
                <a:ea typeface="Inter" pitchFamily="34" charset="-122"/>
                <a:cs typeface="Inter" pitchFamily="34" charset="-120"/>
              </a:rPr>
              <a:t> scale_pos_weight </a:t>
            </a:r>
            <a:pPr algn="l" indent="0" marL="0">
              <a:lnSpc>
                <a:spcPts val="2160"/>
              </a:lnSpc>
              <a:buNone/>
            </a:pPr>
            <a:r>
              <a:rPr lang="en-US" sz="1800" spc="-40" kern="0" dirty="0">
                <a:solidFill>
                  <a:srgbClr val="000000">
                    <a:alpha val="99000"/>
                  </a:srgbClr>
                </a:solidFill>
                <a:latin typeface="Inter" pitchFamily="34" charset="0"/>
                <a:ea typeface="Inter" pitchFamily="34" charset="-122"/>
                <a:cs typeface="Inter" pitchFamily="34" charset="-120"/>
              </a:rPr>
              <a:t>and</a:t>
            </a:r>
            <a:pPr algn="l" indent="0" marL="0">
              <a:lnSpc>
                <a:spcPts val="2160"/>
              </a:lnSpc>
              <a:buNone/>
            </a:pPr>
            <a:r>
              <a:rPr lang="en-US" sz="1800" b="1" spc="-40" kern="0" dirty="0">
                <a:solidFill>
                  <a:srgbClr val="000000">
                    <a:alpha val="99000"/>
                  </a:srgbClr>
                </a:solidFill>
                <a:latin typeface="Inter" pitchFamily="34" charset="0"/>
                <a:ea typeface="Inter" pitchFamily="34" charset="-122"/>
                <a:cs typeface="Inter" pitchFamily="34" charset="-120"/>
              </a:rPr>
              <a:t> feature design</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4348163" y="1262063"/>
            <a:ext cx="190500" cy="190500"/>
          </a:xfrm>
          <a:prstGeom prst="rect">
            <a:avLst/>
          </a:prstGeom>
          <a:noFill/>
          <a:ln/>
        </p:spPr>
      </p:sp>
      <p:sp>
        <p:nvSpPr>
          <p:cNvPr id="3" name="Shape 1"/>
          <p:cNvSpPr/>
          <p:nvPr/>
        </p:nvSpPr>
        <p:spPr>
          <a:xfrm>
            <a:off x="4348163" y="1262063"/>
            <a:ext cx="190500" cy="190500"/>
          </a:xfrm>
          <a:prstGeom prst="roundRect">
            <a:avLst/>
          </a:prstGeom>
          <a:solidFill>
            <a:srgbClr val="000000"/>
          </a:solidFill>
          <a:ln/>
        </p:spPr>
      </p:sp>
      <p:sp>
        <p:nvSpPr>
          <p:cNvPr id="4" name="Shape 2"/>
          <p:cNvSpPr/>
          <p:nvPr/>
        </p:nvSpPr>
        <p:spPr>
          <a:xfrm>
            <a:off x="4443413" y="3933825"/>
            <a:ext cx="190500" cy="190500"/>
          </a:xfrm>
          <a:prstGeom prst="rect">
            <a:avLst/>
          </a:prstGeom>
          <a:noFill/>
          <a:ln/>
        </p:spPr>
      </p:sp>
      <p:sp>
        <p:nvSpPr>
          <p:cNvPr id="5" name="Shape 3"/>
          <p:cNvSpPr/>
          <p:nvPr/>
        </p:nvSpPr>
        <p:spPr>
          <a:xfrm>
            <a:off x="4443413" y="3933825"/>
            <a:ext cx="190500" cy="190500"/>
          </a:xfrm>
          <a:prstGeom prst="roundRect">
            <a:avLst/>
          </a:prstGeom>
          <a:solidFill>
            <a:srgbClr val="000000"/>
          </a:solidFill>
          <a:ln/>
        </p:spPr>
      </p:sp>
      <p:sp>
        <p:nvSpPr>
          <p:cNvPr id="6" name="Shape 4"/>
          <p:cNvSpPr/>
          <p:nvPr/>
        </p:nvSpPr>
        <p:spPr>
          <a:xfrm>
            <a:off x="4443413" y="3138488"/>
            <a:ext cx="190500" cy="190500"/>
          </a:xfrm>
          <a:prstGeom prst="rect">
            <a:avLst/>
          </a:prstGeom>
          <a:noFill/>
          <a:ln/>
        </p:spPr>
      </p:sp>
      <p:sp>
        <p:nvSpPr>
          <p:cNvPr id="7" name="Shape 5"/>
          <p:cNvSpPr/>
          <p:nvPr/>
        </p:nvSpPr>
        <p:spPr>
          <a:xfrm>
            <a:off x="4443413" y="3138488"/>
            <a:ext cx="190500" cy="190500"/>
          </a:xfrm>
          <a:prstGeom prst="roundRect">
            <a:avLst/>
          </a:prstGeom>
          <a:solidFill>
            <a:srgbClr val="000000"/>
          </a:solidFill>
          <a:ln/>
        </p:spPr>
      </p:sp>
      <p:pic>
        <p:nvPicPr>
          <p:cNvPr id="8" name="Image 0" descr="preencoded.png">    </p:cNvPr>
          <p:cNvPicPr>
            <a:picLocks noChangeAspect="1"/>
          </p:cNvPicPr>
          <p:nvPr/>
        </p:nvPicPr>
        <p:blipFill>
          <a:blip r:embed="rId1"/>
          <a:stretch>
            <a:fillRect/>
          </a:stretch>
        </p:blipFill>
        <p:spPr>
          <a:xfrm>
            <a:off x="447675" y="1228725"/>
            <a:ext cx="3743325" cy="3800475"/>
          </a:xfrm>
          <a:prstGeom prst="rect">
            <a:avLst/>
          </a:prstGeom>
        </p:spPr>
      </p:pic>
      <p:sp>
        <p:nvSpPr>
          <p:cNvPr id="9" name="Text 6"/>
          <p:cNvSpPr/>
          <p:nvPr/>
        </p:nvSpPr>
        <p:spPr>
          <a:xfrm>
            <a:off x="447675" y="638175"/>
            <a:ext cx="8639175" cy="366713"/>
          </a:xfrm>
          <a:prstGeom prst="rect">
            <a:avLst/>
          </a:prstGeom>
          <a:noFill/>
          <a:ln/>
        </p:spPr>
        <p:txBody>
          <a:bodyPr wrap="square" rtlCol="0" anchor="ctr"/>
          <a:lstStyle/>
          <a:p>
            <a:pPr algn="l"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(4) The best Threshold</a:t>
            </a:r>
            <a:endParaRPr lang="en-US" sz="2625" dirty="0"/>
          </a:p>
        </p:txBody>
      </p:sp>
      <p:sp>
        <p:nvSpPr>
          <p:cNvPr id="10" name="Text 7"/>
          <p:cNvSpPr/>
          <p:nvPr/>
        </p:nvSpPr>
        <p:spPr>
          <a:xfrm>
            <a:off x="90488" y="76200"/>
            <a:ext cx="890587"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AUG 11, 2025</a:t>
            </a:r>
            <a:endParaRPr lang="en-US" sz="488" dirty="0"/>
          </a:p>
        </p:txBody>
      </p:sp>
      <p:sp>
        <p:nvSpPr>
          <p:cNvPr id="11" name="Text 8"/>
          <p:cNvSpPr/>
          <p:nvPr/>
        </p:nvSpPr>
        <p:spPr>
          <a:xfrm>
            <a:off x="1300163" y="76200"/>
            <a:ext cx="1395413" cy="66675"/>
          </a:xfrm>
          <a:prstGeom prst="rect">
            <a:avLst/>
          </a:prstGeom>
          <a:noFill/>
          <a:ln/>
        </p:spPr>
        <p:txBody>
          <a:bodyPr wrap="square" rtlCol="0" anchor="ctr"/>
          <a:lstStyle/>
          <a:p>
            <a:pPr algn="l"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CATCHING ENERGY FRAUDS</a:t>
            </a:r>
            <a:endParaRPr lang="en-US" sz="488" dirty="0"/>
          </a:p>
        </p:txBody>
      </p:sp>
      <p:sp>
        <p:nvSpPr>
          <p:cNvPr id="12" name="Text 9"/>
          <p:cNvSpPr/>
          <p:nvPr/>
        </p:nvSpPr>
        <p:spPr>
          <a:xfrm>
            <a:off x="8482013" y="76200"/>
            <a:ext cx="1028700" cy="66675"/>
          </a:xfrm>
          <a:prstGeom prst="rect">
            <a:avLst/>
          </a:prstGeom>
          <a:noFill/>
          <a:ln/>
        </p:spPr>
        <p:txBody>
          <a:bodyPr wrap="square" rtlCol="0" anchor="ctr"/>
          <a:lstStyle/>
          <a:p>
            <a:pPr algn="r" indent="0" marL="0">
              <a:lnSpc>
                <a:spcPts val="536"/>
              </a:lnSpc>
              <a:buNone/>
            </a:pPr>
            <a:r>
              <a:rPr lang="en-US" sz="488" b="1" spc="34" kern="0" dirty="0">
                <a:solidFill>
                  <a:srgbClr val="000000">
                    <a:alpha val="99000"/>
                  </a:srgbClr>
                </a:solidFill>
                <a:latin typeface="Plus Jakarta Sans" pitchFamily="34" charset="0"/>
                <a:ea typeface="Plus Jakarta Sans" pitchFamily="34" charset="-122"/>
                <a:cs typeface="Plus Jakarta Sans" pitchFamily="34" charset="-120"/>
              </a:rPr>
              <a:t>ZERO_FRAUD_AI</a:t>
            </a:r>
            <a:endParaRPr lang="en-US" sz="488" dirty="0"/>
          </a:p>
        </p:txBody>
      </p:sp>
      <p:sp>
        <p:nvSpPr>
          <p:cNvPr id="13" name="Text 10"/>
          <p:cNvSpPr/>
          <p:nvPr/>
        </p:nvSpPr>
        <p:spPr>
          <a:xfrm>
            <a:off x="4719638" y="1266825"/>
            <a:ext cx="2967038"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F1-SCORE (RED-LINE)</a:t>
            </a:r>
            <a:endParaRPr lang="en-US" sz="1500" dirty="0"/>
          </a:p>
        </p:txBody>
      </p:sp>
      <p:sp>
        <p:nvSpPr>
          <p:cNvPr id="14" name="Text 11"/>
          <p:cNvSpPr/>
          <p:nvPr/>
        </p:nvSpPr>
        <p:spPr>
          <a:xfrm>
            <a:off x="4719638" y="1652588"/>
            <a:ext cx="4819650" cy="514350"/>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The red line : the best balance btw Recall and Precision →  F1-Score reaches the maximum</a:t>
            </a:r>
            <a:endParaRPr lang="en-US" sz="1350" dirty="0"/>
          </a:p>
        </p:txBody>
      </p:sp>
      <p:sp>
        <p:nvSpPr>
          <p:cNvPr id="15" name="Text 12"/>
          <p:cNvSpPr/>
          <p:nvPr/>
        </p:nvSpPr>
        <p:spPr>
          <a:xfrm>
            <a:off x="4814888" y="3886200"/>
            <a:ext cx="2124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RECALL</a:t>
            </a:r>
            <a:endParaRPr lang="en-US" sz="1500" dirty="0"/>
          </a:p>
        </p:txBody>
      </p:sp>
      <p:sp>
        <p:nvSpPr>
          <p:cNvPr id="16" name="Text 13"/>
          <p:cNvSpPr/>
          <p:nvPr/>
        </p:nvSpPr>
        <p:spPr>
          <a:xfrm>
            <a:off x="4814888" y="4176712"/>
            <a:ext cx="4881563"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Detection of large portion of fraud cases (Recall ≈ 0.75)</a:t>
            </a:r>
            <a:endParaRPr lang="en-US" sz="1350" dirty="0"/>
          </a:p>
        </p:txBody>
      </p:sp>
      <p:sp>
        <p:nvSpPr>
          <p:cNvPr id="17" name="Text 14"/>
          <p:cNvSpPr/>
          <p:nvPr/>
        </p:nvSpPr>
        <p:spPr>
          <a:xfrm>
            <a:off x="4814888" y="3090863"/>
            <a:ext cx="2124075"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PRECISION</a:t>
            </a:r>
            <a:endParaRPr lang="en-US" sz="1500" dirty="0"/>
          </a:p>
        </p:txBody>
      </p:sp>
      <p:sp>
        <p:nvSpPr>
          <p:cNvPr id="18" name="Text 15"/>
          <p:cNvSpPr/>
          <p:nvPr/>
        </p:nvSpPr>
        <p:spPr>
          <a:xfrm>
            <a:off x="4814888" y="3390900"/>
            <a:ext cx="4695825" cy="257175"/>
          </a:xfrm>
          <a:prstGeom prst="rect">
            <a:avLst/>
          </a:prstGeom>
          <a:noFill/>
          <a:ln/>
        </p:spPr>
        <p:txBody>
          <a:bodyPr wrap="square" rtlCol="0" anchor="ctr"/>
          <a:lstStyle/>
          <a:p>
            <a:pPr algn="l" indent="0" marL="0">
              <a:lnSpc>
                <a:spcPts val="2025"/>
              </a:lnSpc>
              <a:buNone/>
            </a:pPr>
            <a:r>
              <a:rPr lang="en-US" sz="1350" spc="-30" kern="0" dirty="0">
                <a:solidFill>
                  <a:srgbClr val="000000">
                    <a:alpha val="99000"/>
                  </a:srgbClr>
                </a:solidFill>
                <a:latin typeface="Inter" pitchFamily="34" charset="0"/>
                <a:ea typeface="Inter" pitchFamily="34" charset="-122"/>
                <a:cs typeface="Inter" pitchFamily="34" charset="-120"/>
              </a:rPr>
              <a:t>An acceptable level of false alarms (Precision ≈ 0.68)</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2025-08-11T10:03:05Z</dcterms:created>
  <dcterms:modified xsi:type="dcterms:W3CDTF">2025-08-11T10:03:05Z</dcterms:modified>
</cp:coreProperties>
</file>